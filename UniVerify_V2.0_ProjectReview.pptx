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85800"/>
            <a:ext cx="1219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Arial"/>
              </a:rPr>
              <a:t>DEPARTMENT OF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5200"/>
            <a:ext cx="12192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13E"/>
                </a:solidFill>
                <a:latin typeface="Arial"/>
              </a:rPr>
              <a:t>&lt;College / University Name&gt;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05000" y="1752600"/>
            <a:ext cx="8382000" cy="19050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524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05000" y="1981200"/>
            <a:ext cx="838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PROJECT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2235200"/>
            <a:ext cx="83820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3A8A"/>
                </a:solidFill>
                <a:latin typeface="Arial"/>
              </a:rPr>
              <a:t>UniVerify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13000" y="2819400"/>
            <a:ext cx="736600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213E"/>
                </a:solidFill>
                <a:latin typeface="Arial"/>
              </a:rPr>
              <a:t>A Decentralized Academic Certificate Verification Protocol Using Alphanumeric Keyspace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810000"/>
            <a:ext cx="1219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678"/>
                </a:solidFill>
                <a:latin typeface="Arial"/>
              </a:rPr>
              <a:t>A Final-Year B.Tech Major Project  —  Submitted in partial fulfilment for the degree of B.Tech (CSE)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05000" y="4267200"/>
            <a:ext cx="4064000" cy="167640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5000" y="4419600"/>
            <a:ext cx="4064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rial"/>
              </a:rPr>
              <a:t>SUBMITTED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5000" y="4724400"/>
            <a:ext cx="406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13E"/>
                </a:solidFill>
                <a:latin typeface="Arial"/>
              </a:rPr>
              <a:t>&lt;Student Name&gt;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5054600"/>
            <a:ext cx="4064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8"/>
                </a:solidFill>
                <a:latin typeface="Arial"/>
              </a:rPr>
              <a:t>&lt;Roll Number&gt;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5000" y="5334000"/>
            <a:ext cx="4064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8"/>
                </a:solidFill>
                <a:latin typeface="Arial"/>
              </a:rPr>
              <a:t>&lt;Branch / Semester&gt;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000" y="4267200"/>
            <a:ext cx="4064000" cy="167640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3000" y="4419600"/>
            <a:ext cx="4064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Arial"/>
              </a:rPr>
              <a:t>PROJECT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000" y="4724400"/>
            <a:ext cx="406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13E"/>
                </a:solidFill>
                <a:latin typeface="Arial"/>
              </a:rPr>
              <a:t>&lt;Guide Name&gt;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3000" y="5054600"/>
            <a:ext cx="4064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8"/>
                </a:solidFill>
                <a:latin typeface="Arial"/>
              </a:rPr>
              <a:t>&lt;Designation&gt;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000" y="5334000"/>
            <a:ext cx="4064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8"/>
                </a:solidFill>
                <a:latin typeface="Arial"/>
              </a:rPr>
              <a:t>Dept. of CSE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02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0" y="11176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678"/>
                </a:solidFill>
                <a:latin typeface="Arial"/>
              </a:rPr>
              <a:t>A one-paragraph summary of the problem, approach and result.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22400"/>
            <a:ext cx="10820400" cy="4089400"/>
          </a:xfrm>
          <a:prstGeom prst="roundRect">
            <a:avLst>
              <a:gd name="adj" fmla="val 2484"/>
            </a:avLst>
          </a:prstGeom>
          <a:solidFill>
            <a:srgbClr val="F1F5F9"/>
          </a:solidFill>
          <a:ln w="1524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5200" y="1701800"/>
            <a:ext cx="102616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213E"/>
                </a:solidFill>
                <a:latin typeface="Arial"/>
              </a:rPr>
              <a:t>Conventional academic record verification depends on centralized databases and physical documents, introducing a single point 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955800"/>
            <a:ext cx="102616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213E"/>
                </a:solidFill>
                <a:latin typeface="Arial"/>
              </a:rPr>
              <a:t>failure (SPOF), forgery risk, and verification latency of 7–14 days. UniVerify V2.0 is a decentralized verification protocol that anchors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209800"/>
            <a:ext cx="102616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213E"/>
                </a:solidFill>
                <a:latin typeface="Arial"/>
              </a:rPr>
              <a:t>certificate records on the Ethereum Sepolia testnet through a Solidity smart contract.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2565400"/>
            <a:ext cx="102616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678"/>
                </a:solidFill>
                <a:latin typeface="Arial"/>
              </a:rPr>
              <a:t>The design replaces array/loop lookups (O(N)) with an explicit string-keyed state mapping on the Registration Number, achieving O(1)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819400"/>
            <a:ext cx="102616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678"/>
                </a:solidFill>
                <a:latin typeface="Arial"/>
              </a:rPr>
              <a:t>constant-time retrieval. Role-Based Access Control freezes the deploying wallet as the sole issuer, and public verification is a gasless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3073400"/>
            <a:ext cx="102616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678"/>
                </a:solidFill>
                <a:latin typeface="Arial"/>
              </a:rPr>
              <a:t>read-only view call via Ethers.js + MetaMask.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3429000"/>
            <a:ext cx="102616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678"/>
                </a:solidFill>
                <a:latin typeface="Arial"/>
              </a:rPr>
              <a:t>Phase 1 (current) validates the contract under a manual curation paradigm — data is entered by hand in Remix with a mock hash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83000"/>
            <a:ext cx="102616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678"/>
                </a:solidFill>
                <a:latin typeface="Arial"/>
              </a:rPr>
              <a:t>placeholder. Phase 2 will add an autonomous AI agent performing SHA-256 / IPFS hashing and programmatic transaction signing.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03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0" y="11176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678"/>
                </a:solidFill>
                <a:latin typeface="Arial"/>
              </a:rPr>
              <a:t>Why blockchain-anchored credentials, and what this project delivers.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85900"/>
            <a:ext cx="2032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" y="1473200"/>
            <a:ext cx="105664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213E"/>
                </a:solidFill>
                <a:latin typeface="Arial"/>
              </a:rPr>
              <a:t>Problem domain.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1696085"/>
            <a:ext cx="105664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678"/>
                </a:solidFill>
                <a:latin typeface="Arial"/>
              </a:rPr>
              <a:t>Degree and certificate verification is slow, manual and trust-dependent, relying on institutions to confirm authenticity.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8670"/>
            <a:ext cx="2032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800" y="2045970"/>
            <a:ext cx="105664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213E"/>
                </a:solidFill>
                <a:latin typeface="Arial"/>
              </a:rPr>
              <a:t>Blockchain premise.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800" y="2268855"/>
            <a:ext cx="105664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678"/>
                </a:solidFill>
                <a:latin typeface="Arial"/>
              </a:rPr>
              <a:t>A public, append-only ledger provides tamper-evident, independently verifiable records without a central authority.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31440"/>
            <a:ext cx="2032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2618740"/>
            <a:ext cx="105664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213E"/>
                </a:solidFill>
                <a:latin typeface="Arial"/>
              </a:rPr>
              <a:t>Core idea.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2841625"/>
            <a:ext cx="105664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678"/>
                </a:solidFill>
                <a:latin typeface="Arial"/>
              </a:rPr>
              <a:t>Store each certificate as a struct in a Solidity mapping keyed by the alphanumeric Registration Number for instant lookups.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04210"/>
            <a:ext cx="2032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800" y="3191510"/>
            <a:ext cx="105664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213E"/>
                </a:solidFill>
                <a:latin typeface="Arial"/>
              </a:rPr>
              <a:t>Access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800" y="3414395"/>
            <a:ext cx="105664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678"/>
                </a:solidFill>
                <a:latin typeface="Arial"/>
              </a:rPr>
              <a:t>Only the university wallet can issue records; anyone can verify them for free through a read-only call.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76980"/>
            <a:ext cx="2032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800" y="3764280"/>
            <a:ext cx="105664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213E"/>
                </a:solidFill>
                <a:latin typeface="Arial"/>
              </a:rPr>
              <a:t>Scope of this report.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800" y="3987165"/>
            <a:ext cx="105664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678"/>
                </a:solidFill>
                <a:latin typeface="Arial"/>
              </a:rPr>
              <a:t>Phase-1 prototype on Sepolia with manual data entry; Phase-2 automation roadmap is described as future work.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04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0" y="11176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678"/>
                </a:solidFill>
                <a:latin typeface="Arial"/>
              </a:rPr>
              <a:t>Representative prior work and the gap UniVerify V2.0 addresses.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47800"/>
            <a:ext cx="10134600" cy="319088"/>
          </a:xfrm>
          <a:prstGeom prst="rect">
            <a:avLst/>
          </a:prstGeom>
          <a:solidFill>
            <a:srgbClr val="1F3A8A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524000"/>
            <a:ext cx="1752600" cy="166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Reference /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7000" y="1524000"/>
            <a:ext cx="3937000" cy="166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6400" y="1524000"/>
            <a:ext cx="3987800" cy="166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Limitation / Gap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766888"/>
            <a:ext cx="10134600" cy="31115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1843088"/>
            <a:ext cx="1752600" cy="158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Nakamoto (2008)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7000" y="1843088"/>
            <a:ext cx="3937000" cy="158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Peer-to-peer electronic cash; proof-of-work ledger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6400" y="1843088"/>
            <a:ext cx="3987800" cy="158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General ledger; not tailored to credentialing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078038"/>
            <a:ext cx="10134600" cy="31115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2154238"/>
            <a:ext cx="1752600" cy="158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Buterin (2014)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7000" y="2154238"/>
            <a:ext cx="3937000" cy="158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Ethereum + programmable smart contracts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6400" y="2154238"/>
            <a:ext cx="3987800" cy="158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Enables apps but no credential schema provided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389188"/>
            <a:ext cx="10134600" cy="31115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0" y="2465388"/>
            <a:ext cx="1752600" cy="158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MIT Blockcerts (2016)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7000" y="2465388"/>
            <a:ext cx="3937000" cy="158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Open standard for blockchain certificates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6400" y="2465388"/>
            <a:ext cx="3987800" cy="158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Hash/issuer focus; lookup efficiency not emphasised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700338"/>
            <a:ext cx="10134600" cy="31115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000" y="2776538"/>
            <a:ext cx="1752600" cy="158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Grech &amp; Camilleri (2017)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7000" y="2776538"/>
            <a:ext cx="3937000" cy="158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Survey of blockchain in education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6400" y="2776538"/>
            <a:ext cx="3987800" cy="158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Policy-level; lacks a concrete O(1) data model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011488"/>
            <a:ext cx="10134600" cy="31115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000" y="3087688"/>
            <a:ext cx="1752600" cy="158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IPFS – Benet (2014)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67000" y="3087688"/>
            <a:ext cx="3937000" cy="158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Content-addressed distributed file 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56400" y="3087688"/>
            <a:ext cx="3987800" cy="158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Storage layer only; deferred to Phase 2 here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590800" y="1447800"/>
            <a:ext cx="0" cy="1874838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680200" y="1447800"/>
            <a:ext cx="0" cy="1874838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5800" y="5969000"/>
            <a:ext cx="108204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B6678"/>
                </a:solidFill>
                <a:latin typeface="Arial"/>
              </a:rPr>
              <a:t>Gap: prior work proves feasibility but rarely optimises on-chain retrieval. UniVerify V2.0 contributes an explicit string-keyed mapping for O(1) verification with hardcoded RBAC.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Existing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05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0" y="11176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678"/>
                </a:solidFill>
                <a:latin typeface="Arial"/>
              </a:rPr>
              <a:t>How academic verification works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85900"/>
            <a:ext cx="2032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" y="1473200"/>
            <a:ext cx="571500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13E"/>
                </a:solidFill>
                <a:latin typeface="Arial"/>
              </a:rPr>
              <a:t>Centralized databases (RDBMS).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1687830"/>
            <a:ext cx="571500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8"/>
                </a:solidFill>
                <a:latin typeface="Arial"/>
              </a:rPr>
              <a:t>Records held in a single institutional server or department spreadsheet.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42160"/>
            <a:ext cx="2032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800" y="2029460"/>
            <a:ext cx="571500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13E"/>
                </a:solidFill>
                <a:latin typeface="Arial"/>
              </a:rPr>
              <a:t>Manual verification.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800" y="2244090"/>
            <a:ext cx="571500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8"/>
                </a:solidFill>
                <a:latin typeface="Arial"/>
              </a:rPr>
              <a:t>Employers email/call the university; staff look up and confirm — 7–14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800" y="2458720"/>
            <a:ext cx="571500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8"/>
                </a:solidFill>
                <a:latin typeface="Arial"/>
              </a:rPr>
              <a:t>typical.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13050"/>
            <a:ext cx="2032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2800350"/>
            <a:ext cx="571500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13E"/>
                </a:solidFill>
                <a:latin typeface="Arial"/>
              </a:rPr>
              <a:t>Paper / PDF certificates.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3014980"/>
            <a:ext cx="571500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8"/>
                </a:solidFill>
                <a:latin typeface="Arial"/>
              </a:rPr>
              <a:t>Static documents that can be edited or forged without easy detection.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69310"/>
            <a:ext cx="2032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800" y="3356610"/>
            <a:ext cx="571500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13E"/>
                </a:solidFill>
                <a:latin typeface="Arial"/>
              </a:rPr>
              <a:t>Custodial trust.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3571240"/>
            <a:ext cx="571500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8"/>
                </a:solidFill>
                <a:latin typeface="Arial"/>
              </a:rPr>
              <a:t>Authenticity depends entirely on trusting the issuing authority and its staff.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59600" y="1473200"/>
            <a:ext cx="4546600" cy="3810000"/>
          </a:xfrm>
          <a:prstGeom prst="roundRect">
            <a:avLst>
              <a:gd name="adj" fmla="val 2666"/>
            </a:avLst>
          </a:prstGeom>
          <a:solidFill>
            <a:srgbClr val="F1F5F9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200" y="1651000"/>
            <a:ext cx="4089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A8A"/>
                </a:solidFill>
                <a:latin typeface="Arial"/>
              </a:rPr>
              <a:t>AT A GLANCE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8200" y="1930400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8200" y="2146300"/>
            <a:ext cx="3962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8"/>
                </a:solidFill>
                <a:latin typeface="Arial"/>
              </a:rPr>
              <a:t>7–14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8200" y="2565400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Trust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8200" y="2781300"/>
            <a:ext cx="3962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8"/>
                </a:solidFill>
                <a:latin typeface="Arial"/>
              </a:rPr>
              <a:t>Centralized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8200" y="3200400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Tamper-evidence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8200" y="3416300"/>
            <a:ext cx="3962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8"/>
                </a:solidFill>
                <a:latin typeface="Arial"/>
              </a:rPr>
              <a:t>Weak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8200" y="3835400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Availability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88200" y="4051300"/>
            <a:ext cx="3962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8"/>
                </a:solidFill>
                <a:latin typeface="Arial"/>
              </a:rPr>
              <a:t>Single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8200" y="4470400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88200" y="4686300"/>
            <a:ext cx="3962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8"/>
                </a:solidFill>
                <a:latin typeface="Arial"/>
              </a:rPr>
              <a:t>Manual / periodic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Architecture of Existing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06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0" y="11176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678"/>
                </a:solidFill>
                <a:latin typeface="Arial"/>
              </a:rPr>
              <a:t>A centralized request-response pipeline with a single point of failure.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03400"/>
            <a:ext cx="2362200" cy="1092200"/>
          </a:xfrm>
          <a:prstGeom prst="roundRect">
            <a:avLst>
              <a:gd name="adj" fmla="val 9302"/>
            </a:avLst>
          </a:prstGeom>
          <a:solidFill>
            <a:srgbClr val="E3ECFD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803400"/>
            <a:ext cx="2362200" cy="635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" y="1892300"/>
            <a:ext cx="2159000" cy="939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Arial"/>
              </a:rPr>
              <a:t>Student /</a:t>
            </a:r>
          </a:p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Arial"/>
              </a:rPr>
              <a:t>Employer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98800" y="2349500"/>
            <a:ext cx="355600" cy="0"/>
          </a:xfrm>
          <a:prstGeom prst="line">
            <a:avLst/>
          </a:prstGeom>
          <a:ln w="20320">
            <a:solidFill>
              <a:srgbClr val="5B66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05200" y="1803400"/>
            <a:ext cx="2362200" cy="1092200"/>
          </a:xfrm>
          <a:prstGeom prst="roundRect">
            <a:avLst>
              <a:gd name="adj" fmla="val 9302"/>
            </a:avLst>
          </a:prstGeom>
          <a:solidFill>
            <a:srgbClr val="FEF1D6"/>
          </a:solidFill>
          <a:ln w="1778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05200" y="1803400"/>
            <a:ext cx="2362200" cy="63500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6800" y="1892300"/>
            <a:ext cx="2159000" cy="939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Arial"/>
              </a:rPr>
              <a:t>Verification</a:t>
            </a:r>
          </a:p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Arial"/>
              </a:rPr>
              <a:t>Request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18200" y="2349500"/>
            <a:ext cx="355600" cy="0"/>
          </a:xfrm>
          <a:prstGeom prst="line">
            <a:avLst/>
          </a:prstGeom>
          <a:ln w="20320">
            <a:solidFill>
              <a:srgbClr val="5B66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24600" y="1803400"/>
            <a:ext cx="2362200" cy="1092200"/>
          </a:xfrm>
          <a:prstGeom prst="roundRect">
            <a:avLst>
              <a:gd name="adj" fmla="val 9302"/>
            </a:avLst>
          </a:prstGeom>
          <a:solidFill>
            <a:srgbClr val="EDE7FC"/>
          </a:solidFill>
          <a:ln w="1778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4600" y="1803400"/>
            <a:ext cx="2362200" cy="6350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6200" y="1892300"/>
            <a:ext cx="2159000" cy="939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Arial"/>
              </a:rPr>
              <a:t>University Staff</a:t>
            </a:r>
          </a:p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Arial"/>
              </a:rPr>
              <a:t>(manual lookup)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37600" y="2349500"/>
            <a:ext cx="355600" cy="0"/>
          </a:xfrm>
          <a:prstGeom prst="line">
            <a:avLst/>
          </a:prstGeom>
          <a:ln w="20320">
            <a:solidFill>
              <a:srgbClr val="5B66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0" y="1803400"/>
            <a:ext cx="2362200" cy="1092200"/>
          </a:xfrm>
          <a:prstGeom prst="roundRect">
            <a:avLst>
              <a:gd name="adj" fmla="val 9302"/>
            </a:avLst>
          </a:prstGeom>
          <a:solidFill>
            <a:srgbClr val="FCE3E0"/>
          </a:solidFill>
          <a:ln w="1778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0" y="1803400"/>
            <a:ext cx="2362200" cy="6350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5600" y="1892300"/>
            <a:ext cx="2159000" cy="939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Arial"/>
              </a:rPr>
              <a:t>Central RDBMS /</a:t>
            </a:r>
          </a:p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Arial"/>
              </a:rPr>
              <a:t>Paper 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022600"/>
            <a:ext cx="23622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C2626"/>
                </a:solidFill>
                <a:latin typeface="Arial"/>
              </a:rPr>
              <a:t>⚠  Single Point of Failure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403600"/>
            <a:ext cx="10820400" cy="1524000"/>
          </a:xfrm>
          <a:prstGeom prst="roundRect">
            <a:avLst>
              <a:gd name="adj" fmla="val 6666"/>
            </a:avLst>
          </a:prstGeom>
          <a:solidFill>
            <a:srgbClr val="FCE3E0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56000"/>
            <a:ext cx="103632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2626"/>
                </a:solidFill>
                <a:latin typeface="Arial"/>
              </a:rPr>
              <a:t>RISKS OF THE CENTRALIZED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848100"/>
            <a:ext cx="203200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C2626"/>
                </a:solidFill>
                <a:latin typeface="Arial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8400" y="3835400"/>
            <a:ext cx="10109200" cy="187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13E"/>
                </a:solidFill>
                <a:latin typeface="Arial"/>
              </a:rPr>
              <a:t>Server breach or insider edits can silently alter records.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067810"/>
            <a:ext cx="203200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C2626"/>
                </a:solidFill>
                <a:latin typeface="Arial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8400" y="4055110"/>
            <a:ext cx="10109200" cy="187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13E"/>
                </a:solidFill>
                <a:latin typeface="Arial"/>
              </a:rPr>
              <a:t>Downtime blocks all verification; no independent cross-check.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87520"/>
            <a:ext cx="203200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C2626"/>
                </a:solidFill>
                <a:latin typeface="Arial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8400" y="4274820"/>
            <a:ext cx="10109200" cy="187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13E"/>
                </a:solidFill>
                <a:latin typeface="Arial"/>
              </a:rPr>
              <a:t>Forged PDFs are hard to detect without manual institutional audit.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Drawbacks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07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0" y="11176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678"/>
                </a:solidFill>
                <a:latin typeface="Arial"/>
              </a:rPr>
              <a:t>The specific deficiencies this project sets out to solve.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85900"/>
            <a:ext cx="2032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" y="1473200"/>
            <a:ext cx="105664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213E"/>
                </a:solidFill>
                <a:latin typeface="Arial"/>
              </a:rPr>
              <a:t>Single Point of Failure (SPOF).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1696085"/>
            <a:ext cx="105664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678"/>
                </a:solidFill>
                <a:latin typeface="Arial"/>
              </a:rPr>
              <a:t>A central server is vulnerable to breach, insider modification and outage.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8670"/>
            <a:ext cx="2032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800" y="2045970"/>
            <a:ext cx="105664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213E"/>
                </a:solidFill>
                <a:latin typeface="Arial"/>
              </a:rPr>
              <a:t>High latency &amp; overhead.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800" y="2268855"/>
            <a:ext cx="105664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678"/>
                </a:solidFill>
                <a:latin typeface="Arial"/>
              </a:rPr>
              <a:t>Manual lookups take 7–14 days and incur recurring administrative cost.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31440"/>
            <a:ext cx="2032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2618740"/>
            <a:ext cx="105664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213E"/>
                </a:solidFill>
                <a:latin typeface="Arial"/>
              </a:rPr>
              <a:t>Forgery &amp; tampering.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2841625"/>
            <a:ext cx="105664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678"/>
                </a:solidFill>
                <a:latin typeface="Arial"/>
              </a:rPr>
              <a:t>Unanchored PDFs and paper can be visually manipulated; detection needs redundant audits.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04210"/>
            <a:ext cx="2032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800" y="3191510"/>
            <a:ext cx="105664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213E"/>
                </a:solidFill>
                <a:latin typeface="Arial"/>
              </a:rPr>
              <a:t>No independent verification.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800" y="3414395"/>
            <a:ext cx="10566400" cy="2270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678"/>
                </a:solidFill>
                <a:latin typeface="Arial"/>
              </a:rPr>
              <a:t>Third parties cannot confirm a record without trusting (and contacting) the issuer.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978400"/>
            <a:ext cx="10820400" cy="1066800"/>
          </a:xfrm>
          <a:prstGeom prst="roundRect">
            <a:avLst>
              <a:gd name="adj" fmla="val 9523"/>
            </a:avLst>
          </a:prstGeom>
          <a:solidFill>
            <a:srgbClr val="F1F5F9"/>
          </a:solidFill>
          <a:ln w="1524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30800"/>
            <a:ext cx="103632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3A8A"/>
                </a:solidFill>
                <a:latin typeface="Arial"/>
              </a:rPr>
              <a:t>PROBLEM STATEMENT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10200"/>
            <a:ext cx="10363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13E"/>
                </a:solidFill>
                <a:latin typeface="Arial"/>
              </a:rPr>
              <a:t>Design a decentralized, tamper-evident certificate verification system that offers instant, gasless, independently verifiable lookups while restricting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26100"/>
            <a:ext cx="10363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13E"/>
                </a:solidFill>
                <a:latin typeface="Arial"/>
              </a:rPr>
              <a:t>issuance to an authorized authority.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08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0" y="11176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678"/>
                </a:solidFill>
                <a:latin typeface="Arial"/>
              </a:rPr>
              <a:t>A decentralized, constant-time verification protocol on Ethereum.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8590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" y="1473200"/>
            <a:ext cx="5943600" cy="211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Arial"/>
              </a:rPr>
              <a:t>On-chain anchoring.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1679575"/>
            <a:ext cx="5943600" cy="211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678"/>
                </a:solidFill>
                <a:latin typeface="Arial"/>
              </a:rPr>
              <a:t>Records written to a Solidity contract on Sepolia — immutable once mined.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295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800" y="2000250"/>
            <a:ext cx="5943600" cy="211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Arial"/>
              </a:rPr>
              <a:t>O(1) keyspace mapping.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800" y="2206625"/>
            <a:ext cx="5943600" cy="211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678"/>
                </a:solidFill>
                <a:latin typeface="Arial"/>
              </a:rPr>
              <a:t>mapping(string =&gt; Certificate) keyed by Registration Number; no search loops.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4000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2527300"/>
            <a:ext cx="5943600" cy="211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Arial"/>
              </a:rPr>
              <a:t>Role-Based Access Control.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2733675"/>
            <a:ext cx="5943600" cy="211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678"/>
                </a:solidFill>
                <a:latin typeface="Arial"/>
              </a:rPr>
              <a:t>Constructor freezes the deployer as sole admin; unauthorized writes revert.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6705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800" y="3054350"/>
            <a:ext cx="5943600" cy="211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Arial"/>
              </a:rPr>
              <a:t>Gasless verification.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800" y="3260725"/>
            <a:ext cx="5943600" cy="211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678"/>
                </a:solidFill>
                <a:latin typeface="Arial"/>
              </a:rPr>
              <a:t>Read-only view call via Ethers.js — instant and free.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59410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800" y="3581400"/>
            <a:ext cx="5943600" cy="211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Arial"/>
              </a:rPr>
              <a:t>Safety filter.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800" y="3787775"/>
            <a:ext cx="5943600" cy="211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678"/>
                </a:solidFill>
                <a:latin typeface="Arial"/>
              </a:rPr>
              <a:t>Blank zero-state results shown as “Record Not Found”.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12000" y="1473200"/>
            <a:ext cx="4394200" cy="3175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1524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40600" y="1625600"/>
            <a:ext cx="3962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A8A"/>
                </a:solidFill>
                <a:latin typeface="Arial"/>
              </a:rPr>
              <a:t>KEY BENEFITS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40600" y="1930400"/>
            <a:ext cx="3962400" cy="355600"/>
          </a:xfrm>
          <a:prstGeom prst="roundRect">
            <a:avLst>
              <a:gd name="adj" fmla="val 21428"/>
            </a:avLst>
          </a:prstGeom>
          <a:solidFill>
            <a:srgbClr val="EDE7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0600" y="1930400"/>
            <a:ext cx="39624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Immutable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40600" y="2362200"/>
            <a:ext cx="3962400" cy="35560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40600" y="2362200"/>
            <a:ext cx="39624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O(1) lookup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40600" y="2794000"/>
            <a:ext cx="3962400" cy="355600"/>
          </a:xfrm>
          <a:prstGeom prst="roundRect">
            <a:avLst>
              <a:gd name="adj" fmla="val 21428"/>
            </a:avLst>
          </a:prstGeom>
          <a:solidFill>
            <a:srgbClr val="FCE3E0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40600" y="2794000"/>
            <a:ext cx="39624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No SPOF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40600" y="3225800"/>
            <a:ext cx="3962400" cy="355600"/>
          </a:xfrm>
          <a:prstGeom prst="roundRect">
            <a:avLst>
              <a:gd name="adj" fmla="val 21428"/>
            </a:avLst>
          </a:prstGeom>
          <a:solidFill>
            <a:srgbClr val="D6F1F2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40600" y="3225800"/>
            <a:ext cx="39624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Gasless reads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40600" y="3657600"/>
            <a:ext cx="3962400" cy="355600"/>
          </a:xfrm>
          <a:prstGeom prst="roundRect">
            <a:avLst>
              <a:gd name="adj" fmla="val 21428"/>
            </a:avLst>
          </a:prstGeom>
          <a:solidFill>
            <a:srgbClr val="E3ECFD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40600" y="3657600"/>
            <a:ext cx="39624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RBAC-secured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40600" y="4089400"/>
            <a:ext cx="3962400" cy="355600"/>
          </a:xfrm>
          <a:prstGeom prst="roundRect">
            <a:avLst>
              <a:gd name="adj" fmla="val 21428"/>
            </a:avLst>
          </a:prstGeom>
          <a:solidFill>
            <a:srgbClr val="FEF1D6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40600" y="4089400"/>
            <a:ext cx="39624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Global access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978400"/>
            <a:ext cx="10820400" cy="1066800"/>
          </a:xfrm>
          <a:prstGeom prst="roundRect">
            <a:avLst>
              <a:gd name="adj" fmla="val 9523"/>
            </a:avLst>
          </a:prstGeom>
          <a:solidFill>
            <a:srgbClr val="FEF1D6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130800"/>
            <a:ext cx="103632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7706"/>
                </a:solidFill>
                <a:latin typeface="Arial"/>
              </a:rPr>
              <a:t>PHASE NOTE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410200"/>
            <a:ext cx="10363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13E"/>
                </a:solidFill>
                <a:latin typeface="Arial"/>
              </a:rPr>
              <a:t>Phase 1 uses manual entry in Remix with a mock hash placeholder; real SHA-256 / IPFS hashing and an autonomous AI agent arrive in Phase 2.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Architecture of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09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0" y="11176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678"/>
                </a:solidFill>
                <a:latin typeface="Arial"/>
              </a:rPr>
              <a:t>Write path (admin, costs gas) and read path (verifier, gasless).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6200" y="1651000"/>
            <a:ext cx="2540000" cy="2489200"/>
          </a:xfrm>
          <a:prstGeom prst="roundRect">
            <a:avLst>
              <a:gd name="adj" fmla="val 4081"/>
            </a:avLst>
          </a:prstGeom>
          <a:solidFill>
            <a:srgbClr val="EDE7FC"/>
          </a:solidFill>
          <a:ln w="1778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6200" y="1651000"/>
            <a:ext cx="2540000" cy="6350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67800" y="1803400"/>
            <a:ext cx="2336800" cy="349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AcademicCertificates</a:t>
            </a:r>
          </a:p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(Solidity — Sepolia EVM)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67800" y="2203450"/>
            <a:ext cx="2336800" cy="1835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678"/>
                </a:solidFill>
                <a:latin typeface="Arial"/>
              </a:rPr>
              <a:t>mapping(string=&gt;Certificate)</a:t>
            </a:r>
          </a:p>
          <a:p>
            <a:pPr algn="ctr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678"/>
                </a:solidFill>
                <a:latin typeface="Arial"/>
              </a:rPr>
              <a:t>Immutable ledger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651000"/>
            <a:ext cx="1244600" cy="889000"/>
          </a:xfrm>
          <a:prstGeom prst="roundRect">
            <a:avLst>
              <a:gd name="adj" fmla="val 11428"/>
            </a:avLst>
          </a:prstGeom>
          <a:solidFill>
            <a:srgbClr val="E3ECFD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51000"/>
            <a:ext cx="1244600" cy="889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WRITE PATH</a:t>
            </a:r>
          </a:p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(admin)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82800" y="1651000"/>
            <a:ext cx="1905000" cy="889000"/>
          </a:xfrm>
          <a:prstGeom prst="roundRect">
            <a:avLst>
              <a:gd name="adj" fmla="val 11428"/>
            </a:avLst>
          </a:prstGeom>
          <a:solidFill>
            <a:srgbClr val="E3ECFD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82800" y="1651000"/>
            <a:ext cx="1905000" cy="635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84400" y="1739900"/>
            <a:ext cx="1701800" cy="736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13E"/>
                </a:solidFill>
                <a:latin typeface="Arial"/>
              </a:rPr>
              <a:t>University</a:t>
            </a:r>
          </a:p>
          <a:p>
            <a:pPr algn="ctr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13E"/>
                </a:solidFill>
                <a:latin typeface="Arial"/>
              </a:rPr>
              <a:t>Admin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25900" y="2095500"/>
            <a:ext cx="381000" cy="0"/>
          </a:xfrm>
          <a:prstGeom prst="line">
            <a:avLst/>
          </a:prstGeom>
          <a:ln w="2032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45000" y="1651000"/>
            <a:ext cx="1905000" cy="889000"/>
          </a:xfrm>
          <a:prstGeom prst="roundRect">
            <a:avLst>
              <a:gd name="adj" fmla="val 11428"/>
            </a:avLst>
          </a:prstGeom>
          <a:solidFill>
            <a:srgbClr val="FEF1D6"/>
          </a:solidFill>
          <a:ln w="1778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45000" y="1651000"/>
            <a:ext cx="1905000" cy="63500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6600" y="1739900"/>
            <a:ext cx="1701800" cy="736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13E"/>
                </a:solidFill>
                <a:latin typeface="Arial"/>
              </a:rPr>
              <a:t>MetaMask</a:t>
            </a:r>
          </a:p>
          <a:p>
            <a:pPr algn="ctr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13E"/>
                </a:solidFill>
                <a:latin typeface="Arial"/>
              </a:rPr>
              <a:t>(sign + gas)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88100" y="2095500"/>
            <a:ext cx="381000" cy="0"/>
          </a:xfrm>
          <a:prstGeom prst="line">
            <a:avLst/>
          </a:prstGeom>
          <a:ln w="2032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07200" y="1651000"/>
            <a:ext cx="1905000" cy="889000"/>
          </a:xfrm>
          <a:prstGeom prst="roundRect">
            <a:avLst>
              <a:gd name="adj" fmla="val 11428"/>
            </a:avLst>
          </a:prstGeom>
          <a:solidFill>
            <a:srgbClr val="E3ECFD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07200" y="1651000"/>
            <a:ext cx="1905000" cy="635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8800" y="1739900"/>
            <a:ext cx="1701800" cy="736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13E"/>
                </a:solidFill>
                <a:latin typeface="Arial"/>
              </a:rPr>
              <a:t>issueDegree()</a:t>
            </a:r>
          </a:p>
          <a:p>
            <a:pPr algn="ctr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13E"/>
                </a:solidFill>
                <a:latin typeface="Arial"/>
              </a:rPr>
              <a:t>state write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50300" y="2095500"/>
            <a:ext cx="177800" cy="0"/>
          </a:xfrm>
          <a:prstGeom prst="line">
            <a:avLst/>
          </a:prstGeom>
          <a:ln w="2032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85800" y="3124200"/>
            <a:ext cx="1244600" cy="889000"/>
          </a:xfrm>
          <a:prstGeom prst="roundRect">
            <a:avLst>
              <a:gd name="adj" fmla="val 11428"/>
            </a:avLst>
          </a:prstGeom>
          <a:solidFill>
            <a:srgbClr val="DCFCE7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124200"/>
            <a:ext cx="1244600" cy="889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A34A"/>
                </a:solidFill>
                <a:latin typeface="Arial"/>
              </a:rPr>
              <a:t>READ PATH</a:t>
            </a:r>
          </a:p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A34A"/>
                </a:solidFill>
                <a:latin typeface="Arial"/>
              </a:rPr>
              <a:t>(verifier)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82800" y="3124200"/>
            <a:ext cx="1905000" cy="889000"/>
          </a:xfrm>
          <a:prstGeom prst="roundRect">
            <a:avLst>
              <a:gd name="adj" fmla="val 11428"/>
            </a:avLst>
          </a:prstGeom>
          <a:solidFill>
            <a:srgbClr val="DCFCE7"/>
          </a:solidFill>
          <a:ln w="1778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082800" y="3124200"/>
            <a:ext cx="1905000" cy="6350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84400" y="3213100"/>
            <a:ext cx="1701800" cy="736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13E"/>
                </a:solidFill>
                <a:latin typeface="Arial"/>
              </a:rPr>
              <a:t>Verifier /</a:t>
            </a:r>
          </a:p>
          <a:p>
            <a:pPr algn="ctr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13E"/>
                </a:solidFill>
                <a:latin typeface="Arial"/>
              </a:rPr>
              <a:t>Recruiter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025900" y="3568700"/>
            <a:ext cx="381000" cy="0"/>
          </a:xfrm>
          <a:prstGeom prst="line">
            <a:avLst/>
          </a:prstGeom>
          <a:ln w="20320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445000" y="3124200"/>
            <a:ext cx="1905000" cy="889000"/>
          </a:xfrm>
          <a:prstGeom prst="roundRect">
            <a:avLst>
              <a:gd name="adj" fmla="val 11428"/>
            </a:avLst>
          </a:prstGeom>
          <a:solidFill>
            <a:srgbClr val="DCFCE7"/>
          </a:solidFill>
          <a:ln w="1778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445000" y="3124200"/>
            <a:ext cx="1905000" cy="6350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46600" y="3213100"/>
            <a:ext cx="1701800" cy="736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13E"/>
                </a:solidFill>
                <a:latin typeface="Arial"/>
              </a:rPr>
              <a:t>Web UI +</a:t>
            </a:r>
          </a:p>
          <a:p>
            <a:pPr algn="ctr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13E"/>
                </a:solidFill>
                <a:latin typeface="Arial"/>
              </a:rPr>
              <a:t>Ethers.js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388100" y="3568700"/>
            <a:ext cx="381000" cy="0"/>
          </a:xfrm>
          <a:prstGeom prst="line">
            <a:avLst/>
          </a:prstGeom>
          <a:ln w="20320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807200" y="3124200"/>
            <a:ext cx="1905000" cy="889000"/>
          </a:xfrm>
          <a:prstGeom prst="roundRect">
            <a:avLst>
              <a:gd name="adj" fmla="val 11428"/>
            </a:avLst>
          </a:prstGeom>
          <a:solidFill>
            <a:srgbClr val="D6F1F2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07200" y="3124200"/>
            <a:ext cx="1905000" cy="63500"/>
          </a:xfrm>
          <a:prstGeom prst="roundRect">
            <a:avLst>
              <a:gd name="adj" fmla="val 4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8800" y="3213100"/>
            <a:ext cx="1701800" cy="736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13E"/>
                </a:solidFill>
                <a:latin typeface="Arial"/>
              </a:rPr>
              <a:t>certificates()</a:t>
            </a:r>
          </a:p>
          <a:p>
            <a:pPr algn="ctr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213E"/>
                </a:solidFill>
                <a:latin typeface="Arial"/>
              </a:rPr>
              <a:t>view — 0 gas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750300" y="3568700"/>
            <a:ext cx="177800" cy="0"/>
          </a:xfrm>
          <a:prstGeom prst="line">
            <a:avLst/>
          </a:prstGeom>
          <a:ln w="20320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85800" y="4368800"/>
            <a:ext cx="10820400" cy="889000"/>
          </a:xfrm>
          <a:prstGeom prst="roundRect">
            <a:avLst>
              <a:gd name="adj" fmla="val 11428"/>
            </a:avLst>
          </a:prstGeom>
          <a:solidFill>
            <a:srgbClr val="F1F5F9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1200"/>
            <a:ext cx="103632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A8A"/>
                </a:solidFill>
                <a:latin typeface="Arial"/>
              </a:rPr>
              <a:t>NETWORK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775200"/>
            <a:ext cx="10363200" cy="187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8"/>
                </a:solidFill>
                <a:latin typeface="Arial"/>
              </a:rPr>
              <a:t>Public Ethereum Sepolia testnet — EVM execution, no central host. Writes are signed transactions (gas); reads are free view calls.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Module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10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0" y="11176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678"/>
                </a:solidFill>
                <a:latin typeface="Arial"/>
              </a:rPr>
              <a:t>The system decomposed into six cooperating modules.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9860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E4E9F7"/>
          </a:solidFill>
          <a:ln w="1524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98600"/>
            <a:ext cx="108204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A8A"/>
                </a:solidFill>
                <a:latin typeface="Arial"/>
              </a:rPr>
              <a:t>UniVerify V2.0  —  System 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82800"/>
            <a:ext cx="3420533" cy="1524000"/>
          </a:xfrm>
          <a:prstGeom prst="roundRect">
            <a:avLst>
              <a:gd name="adj" fmla="val 6666"/>
            </a:avLst>
          </a:prstGeom>
          <a:solidFill>
            <a:srgbClr val="E3ECFD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082800"/>
            <a:ext cx="3420533" cy="635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400" y="2235200"/>
            <a:ext cx="3217333" cy="206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13E"/>
                </a:solidFill>
                <a:latin typeface="Arial"/>
              </a:rPr>
              <a:t>Smart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2492375"/>
            <a:ext cx="3217333" cy="10128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678"/>
                </a:solidFill>
                <a:latin typeface="Arial"/>
              </a:rPr>
              <a:t>struct, mapping,</a:t>
            </a:r>
          </a:p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678"/>
                </a:solidFill>
                <a:latin typeface="Arial"/>
              </a:rPr>
              <a:t>RBAC require()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5733" y="2082800"/>
            <a:ext cx="3420533" cy="1524000"/>
          </a:xfrm>
          <a:prstGeom prst="roundRect">
            <a:avLst>
              <a:gd name="adj" fmla="val 6666"/>
            </a:avLst>
          </a:prstGeom>
          <a:solidFill>
            <a:srgbClr val="FEF1D6"/>
          </a:solidFill>
          <a:ln w="1778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5733" y="2082800"/>
            <a:ext cx="3420533" cy="63500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7333" y="2235200"/>
            <a:ext cx="3217333" cy="206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13E"/>
                </a:solidFill>
                <a:latin typeface="Arial"/>
              </a:rPr>
              <a:t>Admin &amp; Issuance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7333" y="2492375"/>
            <a:ext cx="3217333" cy="10128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678"/>
                </a:solidFill>
                <a:latin typeface="Arial"/>
              </a:rPr>
              <a:t>issueDegree(),</a:t>
            </a:r>
          </a:p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678"/>
                </a:solidFill>
                <a:latin typeface="Arial"/>
              </a:rPr>
              <a:t>MetaMask signing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5667" y="2082800"/>
            <a:ext cx="3420533" cy="1524000"/>
          </a:xfrm>
          <a:prstGeom prst="roundRect">
            <a:avLst>
              <a:gd name="adj" fmla="val 6666"/>
            </a:avLst>
          </a:prstGeom>
          <a:solidFill>
            <a:srgbClr val="D6F1F2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85667" y="2082800"/>
            <a:ext cx="3420533" cy="63500"/>
          </a:xfrm>
          <a:prstGeom prst="roundRect">
            <a:avLst>
              <a:gd name="adj" fmla="val 4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7267" y="2235200"/>
            <a:ext cx="3217333" cy="206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13E"/>
                </a:solidFill>
                <a:latin typeface="Arial"/>
              </a:rPr>
              <a:t>Web3 Provider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7267" y="2492375"/>
            <a:ext cx="3217333" cy="10128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678"/>
                </a:solidFill>
                <a:latin typeface="Arial"/>
              </a:rPr>
              <a:t>Ethers.js +</a:t>
            </a:r>
          </a:p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678"/>
                </a:solidFill>
                <a:latin typeface="Arial"/>
              </a:rPr>
              <a:t>MetaMask bridge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886200"/>
            <a:ext cx="3420533" cy="1524000"/>
          </a:xfrm>
          <a:prstGeom prst="roundRect">
            <a:avLst>
              <a:gd name="adj" fmla="val 6666"/>
            </a:avLst>
          </a:prstGeom>
          <a:solidFill>
            <a:srgbClr val="DCFCE7"/>
          </a:solidFill>
          <a:ln w="1778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3886200"/>
            <a:ext cx="3420533" cy="6350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7400" y="4038600"/>
            <a:ext cx="3217333" cy="206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13E"/>
                </a:solidFill>
                <a:latin typeface="Arial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" y="4295775"/>
            <a:ext cx="3217333" cy="10128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678"/>
                </a:solidFill>
                <a:latin typeface="Arial"/>
              </a:rPr>
              <a:t>view call +</a:t>
            </a:r>
          </a:p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678"/>
                </a:solidFill>
                <a:latin typeface="Arial"/>
              </a:rPr>
              <a:t>safety filter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5733" y="3886200"/>
            <a:ext cx="3420533" cy="1524000"/>
          </a:xfrm>
          <a:prstGeom prst="roundRect">
            <a:avLst>
              <a:gd name="adj" fmla="val 6666"/>
            </a:avLst>
          </a:prstGeom>
          <a:solidFill>
            <a:srgbClr val="EDE7FC"/>
          </a:solidFill>
          <a:ln w="1778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85733" y="3886200"/>
            <a:ext cx="3420533" cy="6350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7333" y="4038600"/>
            <a:ext cx="3217333" cy="206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13E"/>
                </a:solidFill>
                <a:latin typeface="Arial"/>
              </a:rPr>
              <a:t>UI /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7333" y="4295775"/>
            <a:ext cx="3217333" cy="10128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678"/>
                </a:solidFill>
                <a:latin typeface="Arial"/>
              </a:rPr>
              <a:t>#regInput,</a:t>
            </a:r>
          </a:p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678"/>
                </a:solidFill>
                <a:latin typeface="Arial"/>
              </a:rPr>
              <a:t>#result states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5667" y="3886200"/>
            <a:ext cx="3420533" cy="1524000"/>
          </a:xfrm>
          <a:prstGeom prst="roundRect">
            <a:avLst>
              <a:gd name="adj" fmla="val 6666"/>
            </a:avLst>
          </a:prstGeom>
          <a:solidFill>
            <a:srgbClr val="EEF1F5"/>
          </a:solidFill>
          <a:ln w="17780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85667" y="3886200"/>
            <a:ext cx="3420533" cy="63500"/>
          </a:xfrm>
          <a:prstGeom prst="roundRect">
            <a:avLst>
              <a:gd name="adj" fmla="val 40000"/>
            </a:avLst>
          </a:prstGeom>
          <a:solidFill>
            <a:srgbClr val="5B6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7267" y="4038600"/>
            <a:ext cx="3217333" cy="206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13E"/>
                </a:solidFill>
                <a:latin typeface="Arial"/>
              </a:rPr>
              <a:t>AI Agent (Phase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7267" y="4295775"/>
            <a:ext cx="3217333" cy="10128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678"/>
                </a:solidFill>
                <a:latin typeface="Arial"/>
              </a:rPr>
              <a:t>NLP + SHA-256 /</a:t>
            </a:r>
          </a:p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678"/>
                </a:solidFill>
                <a:latin typeface="Arial"/>
              </a:rPr>
              <a:t>IPFS, auto-sign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UML — 1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11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0" y="11176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678"/>
                </a:solidFill>
                <a:latin typeface="Arial"/>
              </a:rPr>
              <a:t>Actors and the use cases they trigger inside the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0000" y="1651000"/>
            <a:ext cx="4572000" cy="4216400"/>
          </a:xfrm>
          <a:prstGeom prst="roundRect">
            <a:avLst>
              <a:gd name="adj" fmla="val 3012"/>
            </a:avLst>
          </a:prstGeom>
          <a:noFill/>
          <a:ln w="1778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0" y="1752600"/>
            <a:ext cx="457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A8A"/>
                </a:solidFill>
                <a:latin typeface="Arial"/>
              </a:rPr>
              <a:t>UniVerify V2.0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75000"/>
            <a:ext cx="1905000" cy="68580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2032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3175000"/>
            <a:ext cx="1905000" cy="635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3289300"/>
            <a:ext cx="17526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563EB"/>
                </a:solidFill>
                <a:latin typeface="Arial"/>
              </a:rPr>
              <a:t>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479800"/>
            <a:ext cx="17526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University 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3175000"/>
            <a:ext cx="1905000" cy="68580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2032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0" y="3175000"/>
            <a:ext cx="1905000" cy="6350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7400" y="3289300"/>
            <a:ext cx="17526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6A34A"/>
                </a:solidFill>
                <a:latin typeface="Arial"/>
              </a:rPr>
              <a:t>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3479800"/>
            <a:ext cx="17526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Verifier / Recruiter</a:t>
            </a:r>
          </a:p>
        </p:txBody>
      </p:sp>
      <p:sp>
        <p:nvSpPr>
          <p:cNvPr id="18" name="Oval 17"/>
          <p:cNvSpPr/>
          <p:nvPr/>
        </p:nvSpPr>
        <p:spPr>
          <a:xfrm>
            <a:off x="4064000" y="2159000"/>
            <a:ext cx="1905000" cy="508000"/>
          </a:xfrm>
          <a:prstGeom prst="ellipse">
            <a:avLst/>
          </a:prstGeom>
          <a:solidFill>
            <a:srgbClr val="E3ECFD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4000" y="2159000"/>
            <a:ext cx="19050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Deploy Contract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590800" y="2413000"/>
            <a:ext cx="1473200" cy="1104900"/>
          </a:xfrm>
          <a:prstGeom prst="line">
            <a:avLst/>
          </a:prstGeom>
          <a:ln w="13970">
            <a:solidFill>
              <a:srgbClr val="5B66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064000" y="3048000"/>
            <a:ext cx="1905000" cy="508000"/>
          </a:xfrm>
          <a:prstGeom prst="ellipse">
            <a:avLst/>
          </a:prstGeom>
          <a:solidFill>
            <a:srgbClr val="E3ECFD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4000" y="3048000"/>
            <a:ext cx="19050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Connect Wallet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590800" y="3302000"/>
            <a:ext cx="1473200" cy="215900"/>
          </a:xfrm>
          <a:prstGeom prst="line">
            <a:avLst/>
          </a:prstGeom>
          <a:ln w="13970">
            <a:solidFill>
              <a:srgbClr val="5B66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064000" y="3937000"/>
            <a:ext cx="1905000" cy="508000"/>
          </a:xfrm>
          <a:prstGeom prst="ellipse">
            <a:avLst/>
          </a:prstGeom>
          <a:solidFill>
            <a:srgbClr val="E3ECFD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4000" y="3937000"/>
            <a:ext cx="19050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Issue Degree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90800" y="3517900"/>
            <a:ext cx="1473200" cy="673100"/>
          </a:xfrm>
          <a:prstGeom prst="line">
            <a:avLst/>
          </a:prstGeom>
          <a:ln w="13970">
            <a:solidFill>
              <a:srgbClr val="5B66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223000" y="2540000"/>
            <a:ext cx="1905000" cy="50800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3000" y="2540000"/>
            <a:ext cx="19050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Enter Reg. No.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8128000" y="2794000"/>
            <a:ext cx="1473200" cy="723900"/>
          </a:xfrm>
          <a:prstGeom prst="line">
            <a:avLst/>
          </a:prstGeom>
          <a:ln w="13970">
            <a:solidFill>
              <a:srgbClr val="5B66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223000" y="3556000"/>
            <a:ext cx="1905000" cy="50800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3000" y="3556000"/>
            <a:ext cx="19050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Verify Certificate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128000" y="3517900"/>
            <a:ext cx="1473200" cy="292100"/>
          </a:xfrm>
          <a:prstGeom prst="line">
            <a:avLst/>
          </a:prstGeom>
          <a:ln w="13970">
            <a:solidFill>
              <a:srgbClr val="5B66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223000" y="4572000"/>
            <a:ext cx="1905000" cy="50800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4572000"/>
            <a:ext cx="19050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View Result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8128000" y="3517900"/>
            <a:ext cx="1473200" cy="1308100"/>
          </a:xfrm>
          <a:prstGeom prst="line">
            <a:avLst/>
          </a:prstGeom>
          <a:ln w="13970">
            <a:solidFill>
              <a:srgbClr val="5B66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UML — 2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Class Diagram (Model Classes)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12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0" y="11176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678"/>
                </a:solidFill>
                <a:latin typeface="Arial"/>
              </a:rPr>
              <a:t>Domain model: contract, record struct, frontend, Phase-2 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98600"/>
            <a:ext cx="4826000" cy="1639888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98600"/>
            <a:ext cx="4826000" cy="279400"/>
          </a:xfrm>
          <a:prstGeom prst="rect">
            <a:avLst/>
          </a:prstGeom>
          <a:solidFill>
            <a:srgbClr val="E3ECFD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8600"/>
            <a:ext cx="482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AcademicCertificates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854200"/>
            <a:ext cx="46736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13E"/>
                </a:solidFill>
                <a:latin typeface="Courier New"/>
              </a:rPr>
              <a:t>+ certificates: map&lt;string,Cert&gt;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005012"/>
            <a:ext cx="46736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13E"/>
                </a:solidFill>
                <a:latin typeface="Courier New"/>
              </a:rPr>
              <a:t>+ totalIssued: uint256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155825"/>
            <a:ext cx="46736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13E"/>
                </a:solidFill>
                <a:latin typeface="Courier New"/>
              </a:rPr>
              <a:t>+ university: address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382838"/>
            <a:ext cx="4826000" cy="0"/>
          </a:xfrm>
          <a:prstGeom prst="line">
            <a:avLst/>
          </a:prstGeom>
          <a:ln w="127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2000" y="2459038"/>
            <a:ext cx="46736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678"/>
                </a:solidFill>
                <a:latin typeface="Courier New"/>
              </a:rPr>
              <a:t>+ constructor()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609850"/>
            <a:ext cx="46736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678"/>
                </a:solidFill>
                <a:latin typeface="Courier New"/>
              </a:rPr>
              <a:t>+ issueDegree(regNo,name,course,hash)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2760662"/>
            <a:ext cx="46736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678"/>
                </a:solidFill>
                <a:latin typeface="Courier New"/>
              </a:rPr>
              <a:t># require(sender==university)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911475"/>
            <a:ext cx="46736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678"/>
                </a:solidFill>
                <a:latin typeface="Courier New"/>
              </a:rPr>
              <a:t>+ certificates(regNo): 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04000" y="1498600"/>
            <a:ext cx="4635500" cy="1187450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778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4000" y="1498600"/>
            <a:ext cx="4635500" cy="279400"/>
          </a:xfrm>
          <a:prstGeom prst="rect">
            <a:avLst/>
          </a:prstGeom>
          <a:solidFill>
            <a:srgbClr val="EDE7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0" y="1498600"/>
            <a:ext cx="463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Certificate  (struct)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0200" y="1854200"/>
            <a:ext cx="44831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13E"/>
                </a:solidFill>
                <a:latin typeface="Courier New"/>
              </a:rPr>
              <a:t>+ studentName: string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0200" y="2005012"/>
            <a:ext cx="44831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13E"/>
                </a:solidFill>
                <a:latin typeface="Courier New"/>
              </a:rPr>
              <a:t>+ courseName: 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0200" y="2155825"/>
            <a:ext cx="44831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13E"/>
                </a:solidFill>
                <a:latin typeface="Courier New"/>
              </a:rPr>
              <a:t>+ ipfsHash: string  // mock (P1)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04000" y="2382838"/>
            <a:ext cx="4635500" cy="0"/>
          </a:xfrm>
          <a:prstGeom prst="line">
            <a:avLst/>
          </a:prstGeom>
          <a:ln w="12700">
            <a:solidFill>
              <a:srgbClr val="7C3A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80200" y="2459038"/>
            <a:ext cx="44831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678"/>
                </a:solidFill>
                <a:latin typeface="Courier New"/>
              </a:rPr>
              <a:t>+ isEmpty(): bool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810000"/>
            <a:ext cx="4826000" cy="1489075"/>
          </a:xfrm>
          <a:prstGeom prst="roundRect">
            <a:avLst>
              <a:gd name="adj" fmla="val 3411"/>
            </a:avLst>
          </a:prstGeom>
          <a:solidFill>
            <a:srgbClr val="FFFFFF"/>
          </a:solidFill>
          <a:ln w="1778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3810000"/>
            <a:ext cx="4826000" cy="2794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810000"/>
            <a:ext cx="482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VerificationPortal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4165600"/>
            <a:ext cx="46736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13E"/>
                </a:solidFill>
                <a:latin typeface="Courier New"/>
              </a:rPr>
              <a:t>- provider: Web3Provider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4316412"/>
            <a:ext cx="46736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13E"/>
                </a:solidFill>
                <a:latin typeface="Courier New"/>
              </a:rPr>
              <a:t>- contract: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4467225"/>
            <a:ext cx="46736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13E"/>
                </a:solidFill>
                <a:latin typeface="Courier New"/>
              </a:rPr>
              <a:t>- result: DOMElement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4694238"/>
            <a:ext cx="4826000" cy="0"/>
          </a:xfrm>
          <a:prstGeom prst="line">
            <a:avLst/>
          </a:prstGeom>
          <a:ln w="12700">
            <a:solidFill>
              <a:srgbClr val="16A3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62000" y="4770438"/>
            <a:ext cx="46736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678"/>
                </a:solidFill>
                <a:latin typeface="Courier New"/>
              </a:rPr>
              <a:t>+ connectWallet()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4921250"/>
            <a:ext cx="46736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678"/>
                </a:solidFill>
                <a:latin typeface="Courier New"/>
              </a:rPr>
              <a:t>+ verifyCertificate(regNo)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5072062"/>
            <a:ext cx="46736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678"/>
                </a:solidFill>
                <a:latin typeface="Courier New"/>
              </a:rPr>
              <a:t>+ renderResult(data)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04000" y="3810000"/>
            <a:ext cx="4635500" cy="1489075"/>
          </a:xfrm>
          <a:prstGeom prst="roundRect">
            <a:avLst>
              <a:gd name="adj" fmla="val 3411"/>
            </a:avLst>
          </a:prstGeom>
          <a:solidFill>
            <a:srgbClr val="FFFFFF"/>
          </a:solidFill>
          <a:ln w="17780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04000" y="3810000"/>
            <a:ext cx="4635500" cy="279400"/>
          </a:xfrm>
          <a:prstGeom prst="rect">
            <a:avLst/>
          </a:prstGeom>
          <a:solidFill>
            <a:srgbClr val="EEF1F5"/>
          </a:solidFill>
          <a:ln w="12700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4000" y="3810000"/>
            <a:ext cx="463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Arial"/>
              </a:rPr>
              <a:t>AIAgent  (Phase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80200" y="4165600"/>
            <a:ext cx="44831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13E"/>
                </a:solidFill>
                <a:latin typeface="Courier New"/>
              </a:rPr>
              <a:t>- wallet: SecureWallet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80200" y="4316412"/>
            <a:ext cx="44831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213E"/>
                </a:solidFill>
                <a:latin typeface="Courier New"/>
              </a:rPr>
              <a:t>- web3: Web3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604000" y="4543425"/>
            <a:ext cx="4635500" cy="0"/>
          </a:xfrm>
          <a:prstGeom prst="line">
            <a:avLst/>
          </a:prstGeom>
          <a:ln w="12700">
            <a:solidFill>
              <a:srgbClr val="5B66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680200" y="4619625"/>
            <a:ext cx="44831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678"/>
                </a:solidFill>
                <a:latin typeface="Courier New"/>
              </a:rPr>
              <a:t>+ ingestLogs()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80200" y="4770438"/>
            <a:ext cx="44831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678"/>
                </a:solidFill>
                <a:latin typeface="Courier New"/>
              </a:rPr>
              <a:t>+ normalize()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80200" y="4921250"/>
            <a:ext cx="44831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678"/>
                </a:solidFill>
                <a:latin typeface="Courier New"/>
              </a:rPr>
              <a:t>+ computeHash(): bytes32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80200" y="5072062"/>
            <a:ext cx="44831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678"/>
                </a:solidFill>
                <a:latin typeface="Courier New"/>
              </a:rPr>
              <a:t>+ signAndBroadcast()</a:t>
            </a:r>
          </a:p>
        </p:txBody>
      </p:sp>
      <p:sp>
        <p:nvSpPr>
          <p:cNvPr id="47" name="Diamond 46"/>
          <p:cNvSpPr/>
          <p:nvPr/>
        </p:nvSpPr>
        <p:spPr>
          <a:xfrm>
            <a:off x="5511800" y="2819400"/>
            <a:ext cx="177800" cy="152400"/>
          </a:xfrm>
          <a:prstGeom prst="diamond">
            <a:avLst/>
          </a:prstGeom>
          <a:solidFill>
            <a:srgbClr val="16213E"/>
          </a:solidFill>
          <a:ln w="12700">
            <a:solidFill>
              <a:srgbClr val="162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5689600" y="2895600"/>
            <a:ext cx="914400" cy="0"/>
          </a:xfrm>
          <a:prstGeom prst="line">
            <a:avLst/>
          </a:prstGeom>
          <a:ln w="15240">
            <a:solidFill>
              <a:srgbClr val="162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613400" y="2616200"/>
            <a:ext cx="889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8"/>
                </a:solidFill>
                <a:latin typeface="Arial"/>
              </a:rPr>
              <a:t>1            *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13400" y="2971800"/>
            <a:ext cx="889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B6678"/>
                </a:solidFill>
                <a:latin typeface="Arial"/>
              </a:rPr>
              <a:t>stores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1828800" y="3138488"/>
            <a:ext cx="0" cy="671512"/>
          </a:xfrm>
          <a:prstGeom prst="line">
            <a:avLst/>
          </a:prstGeom>
          <a:ln w="15240">
            <a:solidFill>
              <a:srgbClr val="5B667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930400" y="3398044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B6678"/>
                </a:solidFill>
                <a:latin typeface="Arial"/>
              </a:rPr>
              <a:t>«uses» certificates()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7747000" y="2686050"/>
            <a:ext cx="0" cy="1123950"/>
          </a:xfrm>
          <a:prstGeom prst="line">
            <a:avLst/>
          </a:prstGeom>
          <a:ln w="15240">
            <a:solidFill>
              <a:srgbClr val="5B667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848600" y="3171825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B6678"/>
                </a:solidFill>
                <a:latin typeface="Arial"/>
              </a:rPr>
              <a:t>«populates» (Phase 2)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UML — 3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Sequence Diagram (Verification)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13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0" y="11176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678"/>
                </a:solidFill>
                <a:latin typeface="Arial"/>
              </a:rPr>
              <a:t>Gasless read-path message flow between client and contract.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7400" y="1524000"/>
            <a:ext cx="1981200" cy="533400"/>
          </a:xfrm>
          <a:prstGeom prst="roundRect">
            <a:avLst>
              <a:gd name="adj" fmla="val 14285"/>
            </a:avLst>
          </a:prstGeom>
          <a:solidFill>
            <a:srgbClr val="DCFCE7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400" y="1524000"/>
            <a:ext cx="19812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Verifier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78000" y="2057400"/>
            <a:ext cx="0" cy="3911600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71900" y="1524000"/>
            <a:ext cx="1981200" cy="533400"/>
          </a:xfrm>
          <a:prstGeom prst="roundRect">
            <a:avLst>
              <a:gd name="adj" fmla="val 14285"/>
            </a:avLst>
          </a:prstGeom>
          <a:solidFill>
            <a:srgbClr val="E3ECFD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1900" y="1524000"/>
            <a:ext cx="19812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VerificationPortal</a:t>
            </a:r>
          </a:p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(Ethers.js)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62500" y="2057400"/>
            <a:ext cx="0" cy="3911600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692900" y="1524000"/>
            <a:ext cx="1981200" cy="533400"/>
          </a:xfrm>
          <a:prstGeom prst="roundRect">
            <a:avLst>
              <a:gd name="adj" fmla="val 14285"/>
            </a:avLst>
          </a:prstGeom>
          <a:solidFill>
            <a:srgbClr val="FEF1D6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2900" y="1524000"/>
            <a:ext cx="19812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MetaMask</a:t>
            </a:r>
          </a:p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Provider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83500" y="2057400"/>
            <a:ext cx="0" cy="3911600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550400" y="1524000"/>
            <a:ext cx="1981200" cy="533400"/>
          </a:xfrm>
          <a:prstGeom prst="roundRect">
            <a:avLst>
              <a:gd name="adj" fmla="val 14285"/>
            </a:avLst>
          </a:prstGeom>
          <a:solidFill>
            <a:srgbClr val="EDE7FC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0400" y="1524000"/>
            <a:ext cx="19812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AcademicCertificates</a:t>
            </a:r>
          </a:p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(Sepolia)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541000" y="2057400"/>
            <a:ext cx="0" cy="3911600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78000" y="2286000"/>
            <a:ext cx="2984500" cy="0"/>
          </a:xfrm>
          <a:prstGeom prst="line">
            <a:avLst/>
          </a:prstGeom>
          <a:ln w="17780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79600" y="2108200"/>
            <a:ext cx="27813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8"/>
                </a:solidFill>
                <a:latin typeface="Arial"/>
              </a:rPr>
              <a:t>1: enter regNo, click Verify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62500" y="2730500"/>
            <a:ext cx="2921000" cy="0"/>
          </a:xfrm>
          <a:prstGeom prst="line">
            <a:avLst/>
          </a:prstGeom>
          <a:ln w="1778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864100" y="2552700"/>
            <a:ext cx="2717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8"/>
                </a:solidFill>
                <a:latin typeface="Arial"/>
              </a:rPr>
              <a:t>2: Web3Provider(window.ethereum)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762500" y="3149600"/>
            <a:ext cx="2921000" cy="0"/>
          </a:xfrm>
          <a:prstGeom prst="line">
            <a:avLst/>
          </a:prstGeom>
          <a:ln w="17780">
            <a:solidFill>
              <a:srgbClr val="5B667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864100" y="2971800"/>
            <a:ext cx="2717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8"/>
                </a:solidFill>
                <a:latin typeface="Arial"/>
              </a:rPr>
              <a:t>provider ready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62500" y="3657600"/>
            <a:ext cx="5778500" cy="0"/>
          </a:xfrm>
          <a:prstGeom prst="line">
            <a:avLst/>
          </a:prstGeom>
          <a:ln w="1778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864100" y="3479800"/>
            <a:ext cx="55753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8"/>
                </a:solidFill>
                <a:latin typeface="Arial"/>
              </a:rPr>
              <a:t>3: certificates(regNo)  [view, 0 gas]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4762500" y="4076700"/>
            <a:ext cx="5778500" cy="0"/>
          </a:xfrm>
          <a:prstGeom prst="line">
            <a:avLst/>
          </a:prstGeom>
          <a:ln w="17780">
            <a:solidFill>
              <a:srgbClr val="5B667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864100" y="3898900"/>
            <a:ext cx="55753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8"/>
                </a:solidFill>
                <a:latin typeface="Arial"/>
              </a:rPr>
              <a:t>4: struct / zero-state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762500" y="4521200"/>
            <a:ext cx="838200" cy="0"/>
          </a:xfrm>
          <a:prstGeom prst="line">
            <a:avLst/>
          </a:prstGeom>
          <a:ln w="16510">
            <a:solidFill>
              <a:srgbClr val="162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600700" y="4521200"/>
            <a:ext cx="0" cy="279400"/>
          </a:xfrm>
          <a:prstGeom prst="line">
            <a:avLst/>
          </a:prstGeom>
          <a:ln w="16510">
            <a:solidFill>
              <a:srgbClr val="162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4762500" y="4800600"/>
            <a:ext cx="838200" cy="0"/>
          </a:xfrm>
          <a:prstGeom prst="line">
            <a:avLst/>
          </a:prstGeom>
          <a:ln w="16510">
            <a:solidFill>
              <a:srgbClr val="1621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864100" y="4368800"/>
            <a:ext cx="2794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8"/>
                </a:solidFill>
                <a:latin typeface="Arial"/>
              </a:rPr>
              <a:t>5: validate studentName != “”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1778000" y="5207000"/>
            <a:ext cx="2984500" cy="0"/>
          </a:xfrm>
          <a:prstGeom prst="line">
            <a:avLst/>
          </a:prstGeom>
          <a:ln w="17780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879600" y="5029200"/>
            <a:ext cx="27813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8"/>
                </a:solidFill>
                <a:latin typeface="Arial"/>
              </a:rPr>
              <a:t>6: render success / Record Not Found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UML — 4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Activity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14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0" y="11176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678"/>
                </a:solidFill>
                <a:latin typeface="Arial"/>
              </a:rPr>
              <a:t>Issuance (write) and verification (read) control 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732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563EB"/>
                </a:solidFill>
                <a:latin typeface="Arial"/>
              </a:rPr>
              <a:t>ISSUANCE  (write path)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0" y="1473200"/>
            <a:ext cx="4318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A34A"/>
                </a:solidFill>
                <a:latin typeface="Arial"/>
              </a:rPr>
              <a:t>VERIFICATION  (read path)</a:t>
            </a:r>
          </a:p>
        </p:txBody>
      </p:sp>
      <p:sp>
        <p:nvSpPr>
          <p:cNvPr id="10" name="Oval 9"/>
          <p:cNvSpPr/>
          <p:nvPr/>
        </p:nvSpPr>
        <p:spPr>
          <a:xfrm>
            <a:off x="2552700" y="1701800"/>
            <a:ext cx="228600" cy="228600"/>
          </a:xfrm>
          <a:prstGeom prst="ellipse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667000" y="1930400"/>
            <a:ext cx="0" cy="203200"/>
          </a:xfrm>
          <a:prstGeom prst="line">
            <a:avLst/>
          </a:prstGeom>
          <a:ln w="17780">
            <a:solidFill>
              <a:srgbClr val="5B66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676400" y="2133600"/>
            <a:ext cx="1981200" cy="533400"/>
          </a:xfrm>
          <a:prstGeom prst="roundRect">
            <a:avLst>
              <a:gd name="adj" fmla="val 19047"/>
            </a:avLst>
          </a:prstGeom>
          <a:solidFill>
            <a:srgbClr val="FEF1D6"/>
          </a:solidFill>
          <a:ln w="1778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76400" y="2133600"/>
            <a:ext cx="1981200" cy="63500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78000" y="2222500"/>
            <a:ext cx="1778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13E"/>
                </a:solidFill>
                <a:latin typeface="Arial"/>
              </a:rPr>
              <a:t>Admin enters</a:t>
            </a:r>
          </a:p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13E"/>
                </a:solidFill>
                <a:latin typeface="Arial"/>
              </a:rPr>
              <a:t>data (Remix)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67000" y="2667000"/>
            <a:ext cx="0" cy="203200"/>
          </a:xfrm>
          <a:prstGeom prst="line">
            <a:avLst/>
          </a:prstGeom>
          <a:ln w="17780">
            <a:solidFill>
              <a:srgbClr val="5B66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iamond 15"/>
          <p:cNvSpPr/>
          <p:nvPr/>
        </p:nvSpPr>
        <p:spPr>
          <a:xfrm>
            <a:off x="1930400" y="2870200"/>
            <a:ext cx="1473200" cy="711200"/>
          </a:xfrm>
          <a:prstGeom prst="diamond">
            <a:avLst/>
          </a:prstGeom>
          <a:solidFill>
            <a:srgbClr val="E3ECFD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30400" y="2870200"/>
            <a:ext cx="14732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13E"/>
                </a:solidFill>
                <a:latin typeface="Arial"/>
              </a:rPr>
              <a:t>msg.sender</a:t>
            </a:r>
          </a:p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13E"/>
                </a:solidFill>
                <a:latin typeface="Arial"/>
              </a:rPr>
              <a:t>== admin?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03600" y="3225800"/>
            <a:ext cx="482600" cy="0"/>
          </a:xfrm>
          <a:prstGeom prst="line">
            <a:avLst/>
          </a:prstGeom>
          <a:ln w="17780">
            <a:solidFill>
              <a:srgbClr val="5B66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29000" y="3048000"/>
            <a:ext cx="508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C2626"/>
                </a:solidFill>
                <a:latin typeface="Arial"/>
              </a:rPr>
              <a:t>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2946400"/>
            <a:ext cx="1651000" cy="558800"/>
          </a:xfrm>
          <a:prstGeom prst="roundRect">
            <a:avLst>
              <a:gd name="adj" fmla="val 18181"/>
            </a:avLst>
          </a:prstGeom>
          <a:solidFill>
            <a:srgbClr val="FCE3E0"/>
          </a:solidFill>
          <a:ln w="1778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86200" y="2946400"/>
            <a:ext cx="1651000" cy="6350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87800" y="3035300"/>
            <a:ext cx="1447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Revert tx</a:t>
            </a:r>
          </a:p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(no gas wasted)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67000" y="3581400"/>
            <a:ext cx="0" cy="228600"/>
          </a:xfrm>
          <a:prstGeom prst="line">
            <a:avLst/>
          </a:prstGeom>
          <a:ln w="17780">
            <a:solidFill>
              <a:srgbClr val="5B66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43200" y="3606800"/>
            <a:ext cx="508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A34A"/>
                </a:solidFill>
                <a:latin typeface="Arial"/>
              </a:rPr>
              <a:t>yes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76400" y="3810000"/>
            <a:ext cx="1981200" cy="533400"/>
          </a:xfrm>
          <a:prstGeom prst="roundRect">
            <a:avLst>
              <a:gd name="adj" fmla="val 19047"/>
            </a:avLst>
          </a:prstGeom>
          <a:solidFill>
            <a:srgbClr val="DCFCE7"/>
          </a:solidFill>
          <a:ln w="1778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76400" y="3810000"/>
            <a:ext cx="1981200" cy="6350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78000" y="3898900"/>
            <a:ext cx="1778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13E"/>
                </a:solidFill>
                <a:latin typeface="Arial"/>
              </a:rPr>
              <a:t>Write record</a:t>
            </a:r>
          </a:p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13E"/>
                </a:solidFill>
                <a:latin typeface="Arial"/>
              </a:rPr>
              <a:t>&amp; mine block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67000" y="4343400"/>
            <a:ext cx="0" cy="228600"/>
          </a:xfrm>
          <a:prstGeom prst="line">
            <a:avLst/>
          </a:prstGeom>
          <a:ln w="17780">
            <a:solidFill>
              <a:srgbClr val="5B66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552700" y="4572000"/>
            <a:ext cx="228600" cy="228600"/>
          </a:xfrm>
          <a:prstGeom prst="ellipse">
            <a:avLst/>
          </a:prstGeom>
          <a:noFill/>
          <a:ln w="19050">
            <a:solidFill>
              <a:srgbClr val="162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603500" y="4622800"/>
            <a:ext cx="127000" cy="127000"/>
          </a:xfrm>
          <a:prstGeom prst="ellipse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75700" y="1701800"/>
            <a:ext cx="228600" cy="228600"/>
          </a:xfrm>
          <a:prstGeom prst="ellipse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8890000" y="1930400"/>
            <a:ext cx="0" cy="203200"/>
          </a:xfrm>
          <a:prstGeom prst="line">
            <a:avLst/>
          </a:prstGeom>
          <a:ln w="17780">
            <a:solidFill>
              <a:srgbClr val="5B66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899400" y="2133600"/>
            <a:ext cx="1981200" cy="533400"/>
          </a:xfrm>
          <a:prstGeom prst="roundRect">
            <a:avLst>
              <a:gd name="adj" fmla="val 19047"/>
            </a:avLst>
          </a:prstGeom>
          <a:solidFill>
            <a:srgbClr val="DCFCE7"/>
          </a:solidFill>
          <a:ln w="1778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99400" y="2133600"/>
            <a:ext cx="1981200" cy="6350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2222500"/>
            <a:ext cx="1778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13E"/>
                </a:solidFill>
                <a:latin typeface="Arial"/>
              </a:rPr>
              <a:t>Verifier enters</a:t>
            </a:r>
          </a:p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13E"/>
                </a:solidFill>
                <a:latin typeface="Arial"/>
              </a:rPr>
              <a:t>Reg. No.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890000" y="2667000"/>
            <a:ext cx="0" cy="152400"/>
          </a:xfrm>
          <a:prstGeom prst="line">
            <a:avLst/>
          </a:prstGeom>
          <a:ln w="17780">
            <a:solidFill>
              <a:srgbClr val="5B66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899400" y="2819400"/>
            <a:ext cx="1981200" cy="533400"/>
          </a:xfrm>
          <a:prstGeom prst="roundRect">
            <a:avLst>
              <a:gd name="adj" fmla="val 19047"/>
            </a:avLst>
          </a:prstGeom>
          <a:solidFill>
            <a:srgbClr val="D6F1F2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99400" y="2819400"/>
            <a:ext cx="1981200" cy="63500"/>
          </a:xfrm>
          <a:prstGeom prst="roundRect">
            <a:avLst>
              <a:gd name="adj" fmla="val 4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2908300"/>
            <a:ext cx="1778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13E"/>
                </a:solidFill>
                <a:latin typeface="Arial"/>
              </a:rPr>
              <a:t>view call</a:t>
            </a:r>
          </a:p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13E"/>
                </a:solidFill>
                <a:latin typeface="Arial"/>
              </a:rPr>
              <a:t>certificates()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890000" y="3352800"/>
            <a:ext cx="0" cy="203200"/>
          </a:xfrm>
          <a:prstGeom prst="line">
            <a:avLst/>
          </a:prstGeom>
          <a:ln w="17780">
            <a:solidFill>
              <a:srgbClr val="5B66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/>
          <p:cNvSpPr/>
          <p:nvPr/>
        </p:nvSpPr>
        <p:spPr>
          <a:xfrm>
            <a:off x="8153400" y="3556000"/>
            <a:ext cx="1473200" cy="711200"/>
          </a:xfrm>
          <a:prstGeom prst="diamond">
            <a:avLst/>
          </a:prstGeom>
          <a:solidFill>
            <a:srgbClr val="EDE7FC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3400" y="3556000"/>
            <a:ext cx="14732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13E"/>
                </a:solidFill>
                <a:latin typeface="Arial"/>
              </a:rPr>
              <a:t>studentName</a:t>
            </a:r>
          </a:p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13E"/>
                </a:solidFill>
                <a:latin typeface="Arial"/>
              </a:rPr>
              <a:t>empty?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626600" y="3911600"/>
            <a:ext cx="482600" cy="0"/>
          </a:xfrm>
          <a:prstGeom prst="line">
            <a:avLst/>
          </a:prstGeom>
          <a:ln w="17780">
            <a:solidFill>
              <a:srgbClr val="5B66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652000" y="3733800"/>
            <a:ext cx="508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C2626"/>
                </a:solidFill>
                <a:latin typeface="Arial"/>
              </a:rPr>
              <a:t>yes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09200" y="3632200"/>
            <a:ext cx="1651000" cy="558800"/>
          </a:xfrm>
          <a:prstGeom prst="roundRect">
            <a:avLst>
              <a:gd name="adj" fmla="val 18181"/>
            </a:avLst>
          </a:prstGeom>
          <a:solidFill>
            <a:srgbClr val="FCE3E0"/>
          </a:solidFill>
          <a:ln w="1778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109200" y="3632200"/>
            <a:ext cx="1651000" cy="6350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10800" y="3721100"/>
            <a:ext cx="1447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Show</a:t>
            </a:r>
          </a:p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“Not Found”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890000" y="4267200"/>
            <a:ext cx="0" cy="228600"/>
          </a:xfrm>
          <a:prstGeom prst="line">
            <a:avLst/>
          </a:prstGeom>
          <a:ln w="17780">
            <a:solidFill>
              <a:srgbClr val="5B66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966200" y="4292600"/>
            <a:ext cx="508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A34A"/>
                </a:solidFill>
                <a:latin typeface="Arial"/>
              </a:rPr>
              <a:t>no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99400" y="4495800"/>
            <a:ext cx="1981200" cy="533400"/>
          </a:xfrm>
          <a:prstGeom prst="roundRect">
            <a:avLst>
              <a:gd name="adj" fmla="val 19047"/>
            </a:avLst>
          </a:prstGeom>
          <a:solidFill>
            <a:srgbClr val="DCFCE7"/>
          </a:solidFill>
          <a:ln w="1778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899400" y="4495800"/>
            <a:ext cx="1981200" cy="6350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01000" y="4584700"/>
            <a:ext cx="1778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13E"/>
                </a:solidFill>
                <a:latin typeface="Arial"/>
              </a:rPr>
              <a:t>Show Verified</a:t>
            </a:r>
          </a:p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13E"/>
                </a:solidFill>
                <a:latin typeface="Arial"/>
              </a:rPr>
              <a:t>Certificate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890000" y="5029200"/>
            <a:ext cx="0" cy="228600"/>
          </a:xfrm>
          <a:prstGeom prst="line">
            <a:avLst/>
          </a:prstGeom>
          <a:ln w="17780">
            <a:solidFill>
              <a:srgbClr val="5B66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8775700" y="5257800"/>
            <a:ext cx="228600" cy="228600"/>
          </a:xfrm>
          <a:prstGeom prst="ellipse">
            <a:avLst/>
          </a:prstGeom>
          <a:noFill/>
          <a:ln w="19050">
            <a:solidFill>
              <a:srgbClr val="162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826500" y="5308600"/>
            <a:ext cx="127000" cy="127000"/>
          </a:xfrm>
          <a:prstGeom prst="ellipse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UML — 5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Component / Deployment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15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0" y="11176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678"/>
                </a:solidFill>
                <a:latin typeface="Arial"/>
              </a:rPr>
              <a:t>Components grouped by deployment node; dashed = dependency.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98600"/>
            <a:ext cx="5080000" cy="2616200"/>
          </a:xfrm>
          <a:prstGeom prst="roundRect">
            <a:avLst>
              <a:gd name="adj" fmla="val 3883"/>
            </a:avLst>
          </a:prstGeom>
          <a:noFill/>
          <a:ln w="1778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1600200"/>
            <a:ext cx="330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3A8A"/>
                </a:solidFill>
                <a:latin typeface="Arial"/>
              </a:rPr>
              <a:t>«node» Client 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6800" y="1955800"/>
            <a:ext cx="2032000" cy="584200"/>
          </a:xfrm>
          <a:prstGeom prst="roundRect">
            <a:avLst>
              <a:gd name="adj" fmla="val 8695"/>
            </a:avLst>
          </a:prstGeom>
          <a:solidFill>
            <a:srgbClr val="EDE7FC"/>
          </a:solidFill>
          <a:ln w="1651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3300" y="2057400"/>
            <a:ext cx="1524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3300" y="2235200"/>
            <a:ext cx="1524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3800" y="1955800"/>
            <a:ext cx="18288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Web UI</a:t>
            </a:r>
          </a:p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(HTML/CSS/JS)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4400" y="1955800"/>
            <a:ext cx="1905000" cy="584200"/>
          </a:xfrm>
          <a:prstGeom prst="roundRect">
            <a:avLst>
              <a:gd name="adj" fmla="val 8695"/>
            </a:avLst>
          </a:prstGeom>
          <a:solidFill>
            <a:srgbClr val="E3ECFD"/>
          </a:solidFill>
          <a:ln w="1651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0900" y="2057400"/>
            <a:ext cx="1524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0900" y="2235200"/>
            <a:ext cx="1524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1400" y="1955800"/>
            <a:ext cx="17018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Ethers.js</a:t>
            </a:r>
          </a:p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Provider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60600" y="3124200"/>
            <a:ext cx="2032000" cy="584200"/>
          </a:xfrm>
          <a:prstGeom prst="roundRect">
            <a:avLst>
              <a:gd name="adj" fmla="val 8695"/>
            </a:avLst>
          </a:prstGeom>
          <a:solidFill>
            <a:srgbClr val="FEF1D6"/>
          </a:solidFill>
          <a:ln w="1651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97100" y="3225800"/>
            <a:ext cx="1524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7100" y="3403600"/>
            <a:ext cx="1524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7600" y="3124200"/>
            <a:ext cx="18288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MetaMask</a:t>
            </a:r>
          </a:p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Extension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98800" y="2247900"/>
            <a:ext cx="355600" cy="0"/>
          </a:xfrm>
          <a:prstGeom prst="line">
            <a:avLst/>
          </a:prstGeom>
          <a:ln w="15240">
            <a:solidFill>
              <a:srgbClr val="5B667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352800" y="2540000"/>
            <a:ext cx="508000" cy="584200"/>
          </a:xfrm>
          <a:prstGeom prst="line">
            <a:avLst/>
          </a:prstGeom>
          <a:ln w="15240">
            <a:solidFill>
              <a:srgbClr val="5B667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070600" y="1498600"/>
            <a:ext cx="5435600" cy="1905000"/>
          </a:xfrm>
          <a:prstGeom prst="roundRect">
            <a:avLst>
              <a:gd name="adj" fmla="val 5333"/>
            </a:avLst>
          </a:prstGeom>
          <a:noFill/>
          <a:ln w="1778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3000" y="1600200"/>
            <a:ext cx="4064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3AED"/>
                </a:solidFill>
                <a:latin typeface="Arial"/>
              </a:rPr>
              <a:t>«node» Ethereum Sepolia (EVM)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04000" y="1930400"/>
            <a:ext cx="4368800" cy="558800"/>
          </a:xfrm>
          <a:prstGeom prst="roundRect">
            <a:avLst>
              <a:gd name="adj" fmla="val 9090"/>
            </a:avLst>
          </a:prstGeom>
          <a:solidFill>
            <a:srgbClr val="EDE7FC"/>
          </a:solidFill>
          <a:ln w="1651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40500" y="2032000"/>
            <a:ext cx="1524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40500" y="2209800"/>
            <a:ext cx="1524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31000" y="1930400"/>
            <a:ext cx="4165600" cy="55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AcademicCertificates (Solidity ^0.8.0)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04000" y="2641600"/>
            <a:ext cx="4368800" cy="558800"/>
          </a:xfrm>
          <a:prstGeom prst="roundRect">
            <a:avLst>
              <a:gd name="adj" fmla="val 9090"/>
            </a:avLst>
          </a:prstGeom>
          <a:solidFill>
            <a:srgbClr val="DCFCE7"/>
          </a:solidFill>
          <a:ln w="1651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40500" y="2743200"/>
            <a:ext cx="1524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40500" y="2921000"/>
            <a:ext cx="1524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31000" y="2641600"/>
            <a:ext cx="4165600" cy="55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Immutable Ledger  mapping&lt;string,Cert&gt;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88400" y="2489200"/>
            <a:ext cx="0" cy="152400"/>
          </a:xfrm>
          <a:prstGeom prst="line">
            <a:avLst/>
          </a:prstGeom>
          <a:ln w="15240">
            <a:solidFill>
              <a:srgbClr val="5B667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070600" y="3657600"/>
            <a:ext cx="5435600" cy="1524000"/>
          </a:xfrm>
          <a:prstGeom prst="roundRect">
            <a:avLst>
              <a:gd name="adj" fmla="val 6666"/>
            </a:avLst>
          </a:prstGeom>
          <a:noFill/>
          <a:ln w="17780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3759200"/>
            <a:ext cx="4064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6678"/>
                </a:solidFill>
                <a:latin typeface="Arial"/>
              </a:rPr>
              <a:t>«node» Agent Server (Phase 2)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04000" y="4064000"/>
            <a:ext cx="4368800" cy="50800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6510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40500" y="4165600"/>
            <a:ext cx="1524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40500" y="4343400"/>
            <a:ext cx="1524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1000" y="4064000"/>
            <a:ext cx="41656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AI Agent  (Web3.py / Node)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04000" y="4673600"/>
            <a:ext cx="4368800" cy="330200"/>
          </a:xfrm>
          <a:prstGeom prst="roundRect">
            <a:avLst>
              <a:gd name="adj" fmla="val 15384"/>
            </a:avLst>
          </a:prstGeom>
          <a:solidFill>
            <a:srgbClr val="D6F1F2"/>
          </a:solidFill>
          <a:ln w="1651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40500" y="4775200"/>
            <a:ext cx="1524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40500" y="4953000"/>
            <a:ext cx="152400" cy="10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31000" y="4673600"/>
            <a:ext cx="41656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IPFS (future)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65800" y="2768600"/>
            <a:ext cx="304800" cy="0"/>
          </a:xfrm>
          <a:prstGeom prst="line">
            <a:avLst/>
          </a:prstGeom>
          <a:ln w="15240">
            <a:solidFill>
              <a:srgbClr val="5B667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816600" y="2565400"/>
            <a:ext cx="889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678"/>
                </a:solidFill>
                <a:latin typeface="Arial"/>
              </a:rPr>
              <a:t>view / tx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8788400" y="3403600"/>
            <a:ext cx="0" cy="254000"/>
          </a:xfrm>
          <a:prstGeom prst="line">
            <a:avLst/>
          </a:prstGeom>
          <a:ln w="15240">
            <a:solidFill>
              <a:srgbClr val="5B667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864600" y="34544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678"/>
                </a:solidFill>
                <a:latin typeface="Arial"/>
              </a:rPr>
              <a:t>writes (P2)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4267200"/>
            <a:ext cx="5080000" cy="990600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3600" y="4368800"/>
            <a:ext cx="4724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3A8A"/>
                </a:solidFill>
                <a:latin typeface="Arial"/>
              </a:rPr>
              <a:t>LEGEND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89000" y="4673600"/>
            <a:ext cx="558800" cy="0"/>
          </a:xfrm>
          <a:prstGeom prst="line">
            <a:avLst/>
          </a:prstGeom>
          <a:ln w="15240">
            <a:solidFill>
              <a:srgbClr val="5B667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574800" y="4597400"/>
            <a:ext cx="3937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678"/>
                </a:solidFill>
                <a:latin typeface="Arial"/>
              </a:rPr>
              <a:t>dependency / interface call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9000" y="4876800"/>
            <a:ext cx="279400" cy="177800"/>
          </a:xfrm>
          <a:prstGeom prst="roundRect">
            <a:avLst>
              <a:gd name="adj" fmla="val 21428"/>
            </a:avLst>
          </a:prstGeom>
          <a:solidFill>
            <a:srgbClr val="E3ECFD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74800" y="4876800"/>
            <a:ext cx="3937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678"/>
                </a:solidFill>
                <a:latin typeface="Arial"/>
              </a:rPr>
              <a:t>deployable component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52800" y="4876800"/>
            <a:ext cx="279400" cy="177800"/>
          </a:xfrm>
          <a:prstGeom prst="roundRect">
            <a:avLst>
              <a:gd name="adj" fmla="val 21428"/>
            </a:avLst>
          </a:prstGeom>
          <a:noFill/>
          <a:ln w="1524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33800" y="48768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678"/>
                </a:solidFill>
                <a:latin typeface="Arial"/>
              </a:rPr>
              <a:t>deployment node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Algorithm Used in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16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0" y="11176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678"/>
                </a:solidFill>
                <a:latin typeface="Arial"/>
              </a:rPr>
              <a:t>Constant-time write and read, with RBAC enforced before gas.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73200"/>
            <a:ext cx="5232400" cy="2844800"/>
          </a:xfrm>
          <a:prstGeom prst="roundRect">
            <a:avLst>
              <a:gd name="adj" fmla="val 3571"/>
            </a:avLst>
          </a:prstGeom>
          <a:solidFill>
            <a:srgbClr val="0B1220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1600200"/>
            <a:ext cx="48768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C6FF"/>
                </a:solidFill>
                <a:latin typeface="Arial"/>
              </a:rPr>
              <a:t>Algorithm 1 — issueDegree (WRITE)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" y="1879600"/>
            <a:ext cx="4851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4D6"/>
                </a:solidFill>
                <a:latin typeface="Courier New"/>
              </a:rPr>
              <a:t>Input : regNo, name, course, hash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2159000"/>
            <a:ext cx="4851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4D6"/>
                </a:solidFill>
                <a:latin typeface="Courier New"/>
              </a:rPr>
              <a:t>Pre   : caller == university  (RBAC)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2438400"/>
            <a:ext cx="4851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7"/>
                </a:solidFill>
                <a:latin typeface="Courier New"/>
              </a:rPr>
              <a:t>1. require(msg.sender==university)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2717800"/>
            <a:ext cx="4851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7"/>
                </a:solidFill>
                <a:latin typeface="Courier New"/>
              </a:rPr>
              <a:t>2.    else revert   // EVM blocks 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2997200"/>
            <a:ext cx="4851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7"/>
                </a:solidFill>
                <a:latin typeface="Courier New"/>
              </a:rPr>
              <a:t>3. certificates[regNo] &lt;-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" y="3276600"/>
            <a:ext cx="4851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4D6"/>
                </a:solidFill>
                <a:latin typeface="Courier New"/>
              </a:rPr>
              <a:t>      Certificate(name,course,hash)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" y="3556000"/>
            <a:ext cx="4851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7"/>
                </a:solidFill>
                <a:latin typeface="Courier New"/>
              </a:rPr>
              <a:t>4. totalIssued &lt;- totalIssued + 1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000" y="3835400"/>
            <a:ext cx="4851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4D6"/>
                </a:solidFill>
                <a:latin typeface="Courier New"/>
              </a:rPr>
              <a:t>Cost  : O(1) write  (+ gas, Sepolia)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3800" y="1473200"/>
            <a:ext cx="5232400" cy="2844800"/>
          </a:xfrm>
          <a:prstGeom prst="roundRect">
            <a:avLst>
              <a:gd name="adj" fmla="val 3571"/>
            </a:avLst>
          </a:prstGeom>
          <a:solidFill>
            <a:srgbClr val="0B1220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600" y="1600200"/>
            <a:ext cx="48768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6EFAC"/>
                </a:solidFill>
                <a:latin typeface="Arial"/>
              </a:rPr>
              <a:t>Algorithm 2 — verifyCertificate (READ)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1879600"/>
            <a:ext cx="4851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4D6"/>
                </a:solidFill>
                <a:latin typeface="Courier New"/>
              </a:rPr>
              <a:t>Input : regNo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0" y="2159000"/>
            <a:ext cx="4851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7"/>
                </a:solidFill>
                <a:latin typeface="Courier New"/>
              </a:rPr>
              <a:t>1. data &lt;- contract.certificates(regNo)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0" y="2438400"/>
            <a:ext cx="4851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4D6"/>
                </a:solidFill>
                <a:latin typeface="Courier New"/>
              </a:rPr>
              <a:t>      // gasless view call (Ethers.js)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0" y="2717800"/>
            <a:ext cx="4851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7"/>
                </a:solidFill>
                <a:latin typeface="Courier New"/>
              </a:rPr>
              <a:t>2. if data.studentName == "" then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0" y="2997200"/>
            <a:ext cx="4851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7"/>
                </a:solidFill>
                <a:latin typeface="Courier New"/>
              </a:rPr>
              <a:t>3.    render("Record Not Found")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0" y="3276600"/>
            <a:ext cx="4851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7"/>
                </a:solidFill>
                <a:latin typeface="Courier New"/>
              </a:rPr>
              <a:t>4. else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0" y="3556000"/>
            <a:ext cx="4851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6EDF7"/>
                </a:solidFill>
                <a:latin typeface="Courier New"/>
              </a:rPr>
              <a:t>5.    render(data)   // verified card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0" y="3835400"/>
            <a:ext cx="4851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4D6"/>
                </a:solidFill>
                <a:latin typeface="Courier New"/>
              </a:rPr>
              <a:t>Cost  : O(1) read   (0 gas, instant)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470400"/>
            <a:ext cx="10820400" cy="1016000"/>
          </a:xfrm>
          <a:prstGeom prst="roundRect">
            <a:avLst>
              <a:gd name="adj" fmla="val 10000"/>
            </a:avLst>
          </a:prstGeom>
          <a:solidFill>
            <a:srgbClr val="D6F1F2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9000" y="45974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Arial"/>
              </a:rPr>
              <a:t>WHY O(1)?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000" y="4851400"/>
            <a:ext cx="10414000" cy="187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13E"/>
                </a:solidFill>
                <a:latin typeface="Arial"/>
              </a:rPr>
              <a:t>A hash-table state mapping resolves the storage slot for a Registration Number directly, with no iteration — unlike array/loop designs that are O(N) and whose gas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" y="5054600"/>
            <a:ext cx="10414000" cy="187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13E"/>
                </a:solidFill>
                <a:latin typeface="Arial"/>
              </a:rPr>
              <a:t>grows with the record count. RBAC require() rejects unauthorized writes before any gas is spent.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Output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17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0" y="11176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678"/>
                </a:solidFill>
                <a:latin typeface="Arial"/>
              </a:rPr>
              <a:t>Representative UI mock-ups — replace with your real screenshots.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73200"/>
            <a:ext cx="5207000" cy="248920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473200"/>
            <a:ext cx="5207000" cy="3048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8200" y="1574800"/>
            <a:ext cx="114300" cy="1143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1400" y="1574800"/>
            <a:ext cx="114300" cy="1143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44600" y="1574800"/>
            <a:ext cx="114300" cy="11430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74800" y="1536700"/>
            <a:ext cx="4140200" cy="1778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76400" y="1536700"/>
            <a:ext cx="3987800" cy="177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678"/>
                </a:solidFill>
                <a:latin typeface="Arial"/>
              </a:rPr>
              <a:t>univerify.app/verify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" y="1879600"/>
            <a:ext cx="4800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13E"/>
                </a:solidFill>
                <a:latin typeface="Arial"/>
              </a:rPr>
              <a:t>UniVerify — Verify Certificate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000" y="2159000"/>
            <a:ext cx="3429000" cy="3048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600" y="2159000"/>
            <a:ext cx="32258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2021CSE101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5000" y="2159000"/>
            <a:ext cx="1219200" cy="304800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5000" y="2159000"/>
            <a:ext cx="12192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9000" y="2616200"/>
            <a:ext cx="4800600" cy="1168400"/>
          </a:xfrm>
          <a:prstGeom prst="roundRect">
            <a:avLst>
              <a:gd name="adj" fmla="val 6521"/>
            </a:avLst>
          </a:prstGeom>
          <a:solidFill>
            <a:srgbClr val="DCFCE7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1400" y="2717800"/>
            <a:ext cx="44958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A34A"/>
                </a:solidFill>
                <a:latin typeface="Arial"/>
              </a:rPr>
              <a:t>✓ Certificate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400" y="2997200"/>
            <a:ext cx="4495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Name:   &lt;Student Name&gt;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1400" y="3225800"/>
            <a:ext cx="4495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Course: B.Tech CSE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1400" y="3454400"/>
            <a:ext cx="4495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678"/>
                </a:solidFill>
                <a:latin typeface="Arial"/>
              </a:rPr>
              <a:t>Hash:   a1b2c3… (mock, Phase 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3800" y="1473200"/>
            <a:ext cx="5207000" cy="248920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73800" y="1473200"/>
            <a:ext cx="5207000" cy="3048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6200" y="1574800"/>
            <a:ext cx="114300" cy="1143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29400" y="1574800"/>
            <a:ext cx="114300" cy="1143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32600" y="1574800"/>
            <a:ext cx="114300" cy="11430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62800" y="1536700"/>
            <a:ext cx="4140200" cy="1778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4400" y="1536700"/>
            <a:ext cx="3987800" cy="177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678"/>
                </a:solidFill>
                <a:latin typeface="Arial"/>
              </a:rPr>
              <a:t>univerify.app/verify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0" y="1879600"/>
            <a:ext cx="4800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13E"/>
                </a:solidFill>
                <a:latin typeface="Arial"/>
              </a:rPr>
              <a:t>UniVerify — Verify Certificate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77000" y="2159000"/>
            <a:ext cx="3429000" cy="3048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78600" y="2159000"/>
            <a:ext cx="32258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9999XYZ000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33000" y="2159000"/>
            <a:ext cx="1219200" cy="304800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33000" y="2159000"/>
            <a:ext cx="12192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Verify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77000" y="2616200"/>
            <a:ext cx="4800600" cy="1168400"/>
          </a:xfrm>
          <a:prstGeom prst="roundRect">
            <a:avLst>
              <a:gd name="adj" fmla="val 6521"/>
            </a:avLst>
          </a:prstGeom>
          <a:solidFill>
            <a:srgbClr val="FCE3E0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2717800"/>
            <a:ext cx="44958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C2626"/>
                </a:solidFill>
                <a:latin typeface="Arial"/>
              </a:rPr>
              <a:t>✕ Record Not Found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022600"/>
            <a:ext cx="44958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No certificate exists for this Registration Number. Zero-state result intercepted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3200400"/>
            <a:ext cx="44958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13E"/>
                </a:solidFill>
                <a:latin typeface="Arial"/>
              </a:rPr>
              <a:t>by the safety filter.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114800"/>
            <a:ext cx="10820400" cy="1168400"/>
          </a:xfrm>
          <a:prstGeom prst="roundRect">
            <a:avLst>
              <a:gd name="adj" fmla="val 8695"/>
            </a:avLst>
          </a:prstGeom>
          <a:solidFill>
            <a:srgbClr val="1E1E1E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9000" y="4241800"/>
            <a:ext cx="10414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4D4D4"/>
                </a:solidFill>
                <a:latin typeface="Arial"/>
              </a:rPr>
              <a:t>Remix IDE — issueDegree (Admin write, Phase 1)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9000" y="4521200"/>
            <a:ext cx="2438400" cy="279400"/>
          </a:xfrm>
          <a:prstGeom prst="roundRect">
            <a:avLst>
              <a:gd name="adj" fmla="val 18181"/>
            </a:avLst>
          </a:prstGeom>
          <a:solidFill>
            <a:srgbClr val="2D2D2D"/>
          </a:solidFill>
          <a:ln w="10160"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5200" y="45212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DCFE"/>
                </a:solidFill>
                <a:latin typeface="Courier New"/>
              </a:rPr>
              <a:t>_regNo: 2021CSE101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30600" y="4521200"/>
            <a:ext cx="2438400" cy="279400"/>
          </a:xfrm>
          <a:prstGeom prst="roundRect">
            <a:avLst>
              <a:gd name="adj" fmla="val 18181"/>
            </a:avLst>
          </a:prstGeom>
          <a:solidFill>
            <a:srgbClr val="2D2D2D"/>
          </a:solidFill>
          <a:ln w="10160"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06800" y="45212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DCFE"/>
                </a:solidFill>
                <a:latin typeface="Courier New"/>
              </a:rPr>
              <a:t>_name: Student Name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200" y="4521200"/>
            <a:ext cx="2438400" cy="279400"/>
          </a:xfrm>
          <a:prstGeom prst="roundRect">
            <a:avLst>
              <a:gd name="adj" fmla="val 18181"/>
            </a:avLst>
          </a:prstGeom>
          <a:solidFill>
            <a:srgbClr val="2D2D2D"/>
          </a:solidFill>
          <a:ln w="10160"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48400" y="45212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DCFE"/>
                </a:solidFill>
                <a:latin typeface="Courier New"/>
              </a:rPr>
              <a:t>_course: B.Tech CSE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13800" y="4521200"/>
            <a:ext cx="2438400" cy="279400"/>
          </a:xfrm>
          <a:prstGeom prst="roundRect">
            <a:avLst>
              <a:gd name="adj" fmla="val 18181"/>
            </a:avLst>
          </a:prstGeom>
          <a:solidFill>
            <a:srgbClr val="2D2D2D"/>
          </a:solidFill>
          <a:ln w="10160"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90000" y="45212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DCFE"/>
                </a:solidFill>
                <a:latin typeface="Courier New"/>
              </a:rPr>
              <a:t>_hash: a1b2c3 (manual mock)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9000" y="4902200"/>
            <a:ext cx="1549400" cy="279400"/>
          </a:xfrm>
          <a:prstGeom prst="roundRect">
            <a:avLst>
              <a:gd name="adj" fmla="val 18181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9000" y="4902200"/>
            <a:ext cx="154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1E1E"/>
                </a:solidFill>
                <a:latin typeface="Arial"/>
              </a:rPr>
              <a:t>transact (sign)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90800" y="4902200"/>
            <a:ext cx="635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6EFAC"/>
                </a:solidFill>
                <a:latin typeface="Courier New"/>
              </a:rPr>
              <a:t>✓ status: 0x1 mined  —  gas used (SepoliaETH)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Comparative Graph: Existing vs Proposed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18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0" y="11176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678"/>
                </a:solidFill>
                <a:latin typeface="Arial"/>
              </a:rPr>
              <a:t>Indicative qualitative scores (out of 10; higher is better).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12000" y="1447800"/>
            <a:ext cx="1311275" cy="330200"/>
          </a:xfrm>
          <a:prstGeom prst="roundRect">
            <a:avLst>
              <a:gd name="adj" fmla="val 23076"/>
            </a:avLst>
          </a:prstGeom>
          <a:solidFill>
            <a:srgbClr val="FCE3E0"/>
          </a:solidFill>
          <a:ln w="1397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2000" y="1447800"/>
            <a:ext cx="1311275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Existing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50275" y="1447800"/>
            <a:ext cx="1402969" cy="330200"/>
          </a:xfrm>
          <a:prstGeom prst="roundRect">
            <a:avLst>
              <a:gd name="adj" fmla="val 23076"/>
            </a:avLst>
          </a:prstGeom>
          <a:solidFill>
            <a:srgbClr val="E3ECFD"/>
          </a:solidFill>
          <a:ln w="1397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50275" y="1447800"/>
            <a:ext cx="1402969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Arial"/>
              </a:rPr>
              <a:t>Proposed System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97000" y="5080000"/>
            <a:ext cx="9398000" cy="0"/>
          </a:xfrm>
          <a:prstGeom prst="line">
            <a:avLst/>
          </a:prstGeom>
          <a:ln w="1016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41400" y="5003800"/>
            <a:ext cx="304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97000" y="4460240"/>
            <a:ext cx="9398000" cy="0"/>
          </a:xfrm>
          <a:prstGeom prst="line">
            <a:avLst/>
          </a:prstGeom>
          <a:ln w="1016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41400" y="4384040"/>
            <a:ext cx="304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97000" y="3840480"/>
            <a:ext cx="9398000" cy="0"/>
          </a:xfrm>
          <a:prstGeom prst="line">
            <a:avLst/>
          </a:prstGeom>
          <a:ln w="1016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41400" y="3764280"/>
            <a:ext cx="304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97000" y="3220720"/>
            <a:ext cx="9398000" cy="0"/>
          </a:xfrm>
          <a:prstGeom prst="line">
            <a:avLst/>
          </a:prstGeom>
          <a:ln w="1016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144520"/>
            <a:ext cx="304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97000" y="2600960"/>
            <a:ext cx="9398000" cy="0"/>
          </a:xfrm>
          <a:prstGeom prst="line">
            <a:avLst/>
          </a:prstGeom>
          <a:ln w="1016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41400" y="2524760"/>
            <a:ext cx="304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97000" y="1981200"/>
            <a:ext cx="9398000" cy="0"/>
          </a:xfrm>
          <a:prstGeom prst="line">
            <a:avLst/>
          </a:prstGeom>
          <a:ln w="1016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41400" y="1905000"/>
            <a:ext cx="304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10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97000" y="1981200"/>
            <a:ext cx="0" cy="309880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97000" y="5080000"/>
            <a:ext cx="93980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734820" y="4150360"/>
            <a:ext cx="407247" cy="9296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18267" y="2291080"/>
            <a:ext cx="407247" cy="2788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97000" y="5156200"/>
            <a:ext cx="1566333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6213E"/>
                </a:solidFill>
                <a:latin typeface="Arial"/>
              </a:rPr>
              <a:t>Speed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01153" y="3840480"/>
            <a:ext cx="407247" cy="12395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84600" y="2291080"/>
            <a:ext cx="407247" cy="2788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63333" y="5156200"/>
            <a:ext cx="1566333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6213E"/>
                </a:solidFill>
                <a:latin typeface="Arial"/>
              </a:rPr>
              <a:t>Security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67487" y="4460240"/>
            <a:ext cx="407247" cy="6197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50933" y="1981200"/>
            <a:ext cx="407247" cy="309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9667" y="5156200"/>
            <a:ext cx="1566333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6213E"/>
                </a:solidFill>
                <a:latin typeface="Arial"/>
              </a:rPr>
              <a:t>Tamper-</a:t>
            </a:r>
          </a:p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6213E"/>
                </a:solidFill>
                <a:latin typeface="Arial"/>
              </a:rPr>
              <a:t>resistance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33820" y="4150360"/>
            <a:ext cx="407247" cy="9296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17267" y="2291080"/>
            <a:ext cx="407247" cy="2788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0" y="5156200"/>
            <a:ext cx="1566333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6213E"/>
                </a:solidFill>
                <a:latin typeface="Arial"/>
              </a:rPr>
              <a:t>Transparency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0153" y="3840480"/>
            <a:ext cx="407247" cy="12395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83600" y="2600960"/>
            <a:ext cx="407247" cy="2479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62333" y="5156200"/>
            <a:ext cx="1566333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6213E"/>
                </a:solidFill>
                <a:latin typeface="Arial"/>
              </a:rPr>
              <a:t>Cost-</a:t>
            </a:r>
          </a:p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6213E"/>
                </a:solidFill>
                <a:latin typeface="Arial"/>
              </a:rPr>
              <a:t>efficiency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66487" y="3530600"/>
            <a:ext cx="407247" cy="1549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49933" y="2600960"/>
            <a:ext cx="407247" cy="2479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28667" y="5156200"/>
            <a:ext cx="1566333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6213E"/>
                </a:solidFill>
                <a:latin typeface="Arial"/>
              </a:rPr>
              <a:t>Scalability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97000" y="5918200"/>
            <a:ext cx="9398000" cy="1635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B6678"/>
                </a:solidFill>
                <a:latin typeface="Arial"/>
              </a:rPr>
              <a:t>Latency: ~7–14 days (existing) → ~seconds (proposed). Scores are indicative for comparison, not benchmarked units.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Future Enhancement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19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270000"/>
            <a:ext cx="5969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3AED"/>
                </a:solidFill>
                <a:latin typeface="Arial"/>
              </a:rP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36700"/>
            <a:ext cx="203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" y="15240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13E"/>
                </a:solidFill>
                <a:latin typeface="Arial"/>
              </a:rPr>
              <a:t>Phase 2 AI agent.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172212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8"/>
                </a:solidFill>
                <a:latin typeface="Arial"/>
              </a:rPr>
              <a:t>NLP-normalized ingestion, SHA-256 / IPFS hashing, programmatic transaction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800" y="192024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8"/>
                </a:solidFill>
                <a:latin typeface="Arial"/>
              </a:rPr>
              <a:t>signing.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32660"/>
            <a:ext cx="203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800" y="221996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13E"/>
                </a:solidFill>
                <a:latin typeface="Arial"/>
              </a:rPr>
              <a:t>Mainnet / Layer-2.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800" y="241808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8"/>
                </a:solidFill>
                <a:latin typeface="Arial"/>
              </a:rPr>
              <a:t>Deploy on a low-fee L2 (e.g., Polygon) for production scale.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30500"/>
            <a:ext cx="203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27178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13E"/>
                </a:solidFill>
                <a:latin typeface="Arial"/>
              </a:rPr>
              <a:t>Revocation &amp; expiry.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291592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8"/>
                </a:solidFill>
                <a:latin typeface="Arial"/>
              </a:rPr>
              <a:t>On-chain credential revocation and validity windows.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28340"/>
            <a:ext cx="203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800" y="321564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13E"/>
                </a:solidFill>
                <a:latin typeface="Arial"/>
              </a:rPr>
              <a:t>Multi-institution registry.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341376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8"/>
                </a:solidFill>
                <a:latin typeface="Arial"/>
              </a:rPr>
              <a:t>Federated admin roles for many universities.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26180"/>
            <a:ext cx="203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rial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800" y="371348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13E"/>
                </a:solidFill>
                <a:latin typeface="Arial"/>
              </a:rPr>
              <a:t>QR + mobile DID wallet.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800" y="39116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8"/>
                </a:solidFill>
                <a:latin typeface="Arial"/>
              </a:rPr>
              <a:t>Scan-to-verify and self-sovereign holder wallets.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59600" y="1270000"/>
            <a:ext cx="4546600" cy="4419600"/>
          </a:xfrm>
          <a:prstGeom prst="roundRect">
            <a:avLst>
              <a:gd name="adj" fmla="val 2298"/>
            </a:avLst>
          </a:prstGeom>
          <a:solidFill>
            <a:srgbClr val="F1F5F9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62800" y="1422400"/>
            <a:ext cx="41402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A34A"/>
                </a:solidFill>
                <a:latin typeface="Arial"/>
              </a:rPr>
              <a:t>CONCLUSION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2800" y="1701800"/>
            <a:ext cx="4140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13E"/>
                </a:solidFill>
                <a:latin typeface="Arial"/>
              </a:rPr>
              <a:t>UniVerify V2.0 turns certificate verification from a slow,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2800" y="1917700"/>
            <a:ext cx="4140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13E"/>
                </a:solidFill>
                <a:latin typeface="Arial"/>
              </a:rPr>
              <a:t>centralized, forgery-prone process into an immutable,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2800" y="2133600"/>
            <a:ext cx="4140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13E"/>
                </a:solidFill>
                <a:latin typeface="Arial"/>
              </a:rPr>
              <a:t>decentralized, constant-time lookup on a public blockchain.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2800" y="2451100"/>
            <a:ext cx="4140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8"/>
                </a:solidFill>
                <a:latin typeface="Arial"/>
              </a:rPr>
              <a:t>The Phase-1 prototype validates state mutability, O(1)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2800" y="2667000"/>
            <a:ext cx="4140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8"/>
                </a:solidFill>
                <a:latin typeface="Arial"/>
              </a:rPr>
              <a:t>string-keyed retrieval, RBAC guardrails and the gasless read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2800" y="2882900"/>
            <a:ext cx="4140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8"/>
                </a:solidFill>
                <a:latin typeface="Arial"/>
              </a:rPr>
              <a:t>path under a manual curation paradigm — with the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2800" y="3098800"/>
            <a:ext cx="4140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8"/>
                </a:solidFill>
                <a:latin typeface="Arial"/>
              </a:rPr>
              <a:t>data-fingerprint held as a mock placeholder.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2800" y="3416300"/>
            <a:ext cx="4140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8"/>
                </a:solidFill>
                <a:latin typeface="Arial"/>
              </a:rPr>
              <a:t>Phase 2 closes the loop with autonomous,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62800" y="3632200"/>
            <a:ext cx="4140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8"/>
                </a:solidFill>
                <a:latin typeface="Arial"/>
              </a:rPr>
              <a:t>cryptographically-hashed issuance for an end-to-end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2800" y="3848100"/>
            <a:ext cx="41402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8"/>
                </a:solidFill>
                <a:latin typeface="Arial"/>
              </a:rPr>
              <a:t>trust-minimized system.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76200" cy="381000"/>
          </a:xfrm>
          <a:prstGeom prst="roundRect">
            <a:avLst>
              <a:gd name="adj" fmla="val 33333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31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9931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3E"/>
                </a:solidFill>
                <a:latin typeface="Arial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800"/>
            <a:ext cx="10820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678"/>
                </a:solidFill>
                <a:latin typeface="Arial"/>
              </a:rPr>
              <a:t>20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041400"/>
            <a:ext cx="10820400" cy="0"/>
          </a:xfrm>
          <a:prstGeom prst="line">
            <a:avLst/>
          </a:prstGeom>
          <a:ln w="1524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0" y="1117600"/>
            <a:ext cx="1041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678"/>
                </a:solidFill>
                <a:latin typeface="Arial"/>
              </a:rPr>
              <a:t>IEEE style — add the specific sources cited in your report.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47800"/>
            <a:ext cx="10820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13E"/>
                </a:solidFill>
                <a:latin typeface="Arial"/>
              </a:rPr>
              <a:t>[1]  S. Nakamoto, “Bitcoin: A Peer-to-Peer Electronic Cash System,” 2008.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2600"/>
            <a:ext cx="10820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13E"/>
                </a:solidFill>
                <a:latin typeface="Arial"/>
              </a:rPr>
              <a:t>[2]  V. Buterin, “Ethereum: A Next-Generation Smart Contract and Decentralized Application Platform,” White Paper, 2014.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10820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13E"/>
                </a:solidFill>
                <a:latin typeface="Arial"/>
              </a:rPr>
              <a:t>[3]  J. Benet, “IPFS — Content-Addressed, Versioned, P2P File System,” arXiv:1407.3561, 2014.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2200"/>
            <a:ext cx="10820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13E"/>
                </a:solidFill>
                <a:latin typeface="Arial"/>
              </a:rPr>
              <a:t>[4]  MIT Media Lab, “Blockcerts: An Open Standard for Blockchain Certificates,” 2016. Available: https://www.blockcerts.org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67000"/>
            <a:ext cx="10820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13E"/>
                </a:solidFill>
                <a:latin typeface="Arial"/>
              </a:rPr>
              <a:t>[5]  A. Grech, A. F. Camilleri, “Blockchain in Education,” Joint Research Centre, European Commission, 2017.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10820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13E"/>
                </a:solidFill>
                <a:latin typeface="Arial"/>
              </a:rPr>
              <a:t>[6]  Ethereum Foundation, “Solidity Documentation (v0.8.x).” Available: https://docs.soliditylang.org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76600"/>
            <a:ext cx="10820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13E"/>
                </a:solidFill>
                <a:latin typeface="Arial"/>
              </a:rPr>
              <a:t>[7]  Ethers.js, “Documentation (v5.7).” Available: https://docs.ethers.org/v5/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1400"/>
            <a:ext cx="10820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13E"/>
                </a:solidFill>
                <a:latin typeface="Arial"/>
              </a:rPr>
              <a:t>[8]  ConsenSys, “MetaMask Developer Documentation.” Available: https://docs.metamask.io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019800"/>
            <a:ext cx="10820400" cy="1635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B6678"/>
                </a:solidFill>
                <a:latin typeface="Arial"/>
              </a:rPr>
              <a:t>Note: [1]–[5] are foundational works; replace or augment with the specific papers cited in your report.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6527800"/>
            <a:ext cx="10820400" cy="0"/>
          </a:xfrm>
          <a:prstGeom prst="line">
            <a:avLst/>
          </a:prstGeom>
          <a:ln w="1016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6604000"/>
            <a:ext cx="711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UniVerify V2.0  |  B.Tech CSE — Project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6040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8"/>
                </a:solidFill>
                <a:latin typeface="Arial"/>
              </a:rPr>
              <a:t>Decentralized Academic Certificate 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