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397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97000"/>
            <a:ext cx="12192000" cy="635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330200"/>
            <a:ext cx="1219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9D6F5"/>
                </a:solidFill>
                <a:latin typeface="Arial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60400"/>
            <a:ext cx="12192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5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&lt;College / University Name&gt;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066800"/>
            <a:ext cx="1219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9D6F5"/>
                </a:solidFill>
                <a:latin typeface="Arial"/>
              </a:rPr>
              <a:t>A Final-Year B.Tech Major Project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2133600"/>
            <a:ext cx="10668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563EB"/>
                </a:solidFill>
                <a:latin typeface="Arial"/>
              </a:rPr>
              <a:t>PROJECT TITLE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2438400"/>
            <a:ext cx="10668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16213E"/>
                </a:solidFill>
                <a:latin typeface="Arial"/>
              </a:rPr>
              <a:t>UniVerify V2.0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51000" y="30988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5B6678"/>
                </a:solidFill>
                <a:latin typeface="Arial"/>
              </a:rPr>
              <a:t>A Decentralized Academic Certificate Verification Protocol Using Alphanumeric Keyspace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51000" y="33909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5B6678"/>
                </a:solidFill>
                <a:latin typeface="Arial"/>
              </a:rPr>
              <a:t>Mapping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826000" y="3962400"/>
            <a:ext cx="2540000" cy="0"/>
          </a:xfrm>
          <a:prstGeom prst="line">
            <a:avLst/>
          </a:prstGeom>
          <a:ln w="25400">
            <a:solidFill>
              <a:srgbClr val="0E7C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524000" y="4216400"/>
            <a:ext cx="4318000" cy="1168400"/>
          </a:xfrm>
          <a:prstGeom prst="roundRect">
            <a:avLst>
              <a:gd name="adj" fmla="val 8695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524000" y="4216400"/>
            <a:ext cx="4318000" cy="63500"/>
          </a:xfrm>
          <a:prstGeom prst="roundRect">
            <a:avLst>
              <a:gd name="adj" fmla="val 4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27200" y="4394200"/>
            <a:ext cx="39116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563EB"/>
                </a:solidFill>
                <a:latin typeface="Arial"/>
              </a:rPr>
              <a:t>SUBMITTED 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27200" y="4648200"/>
            <a:ext cx="39116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6213E"/>
                </a:solidFill>
                <a:latin typeface="Arial"/>
              </a:rPr>
              <a:t>&lt;Student Name&gt;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27200" y="4902200"/>
            <a:ext cx="39116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B6678"/>
                </a:solidFill>
                <a:latin typeface="Arial"/>
              </a:rPr>
              <a:t>Reg. No.: &lt;2021CSE101&gt;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27200" y="5130800"/>
            <a:ext cx="39116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678"/>
                </a:solidFill>
                <a:latin typeface="Arial"/>
              </a:rPr>
              <a:t>B.Tech — Computer Science &amp; Engineering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0000" y="4216400"/>
            <a:ext cx="4318000" cy="1168400"/>
          </a:xfrm>
          <a:prstGeom prst="roundRect">
            <a:avLst>
              <a:gd name="adj" fmla="val 8695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0000" y="4216400"/>
            <a:ext cx="4318000" cy="63500"/>
          </a:xfrm>
          <a:prstGeom prst="roundRect">
            <a:avLst>
              <a:gd name="adj" fmla="val 4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53200" y="4394200"/>
            <a:ext cx="39116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7C3AED"/>
                </a:solidFill>
                <a:latin typeface="Arial"/>
              </a:rPr>
              <a:t>UNDER THE GUIDANCE 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3200" y="4648200"/>
            <a:ext cx="39116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6213E"/>
                </a:solidFill>
                <a:latin typeface="Arial"/>
              </a:rPr>
              <a:t>&lt;Guide Name&gt;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3200" y="4902200"/>
            <a:ext cx="39116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B6678"/>
                </a:solidFill>
                <a:latin typeface="Arial"/>
              </a:rPr>
              <a:t>Designation: &lt;Assistant Professor&gt;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53200" y="5130800"/>
            <a:ext cx="39116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678"/>
                </a:solidFill>
                <a:latin typeface="Arial"/>
              </a:rPr>
              <a:t>Department of CSE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0" y="5740400"/>
            <a:ext cx="1219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7C86"/>
                </a:solidFill>
                <a:latin typeface="Arial"/>
              </a:rPr>
              <a:t>Solidity ^0.8.0   •   Ethers.js v5.7.2   •   MetaMask   •   Ethereum Sepolia Testnet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6197600"/>
            <a:ext cx="1219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B6678"/>
                </a:solidFill>
                <a:latin typeface="Arial"/>
              </a:rPr>
              <a:t>Academic Year &lt;2024–25&gt;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31800"/>
            <a:ext cx="88900" cy="381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6600" y="406400"/>
            <a:ext cx="965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Arial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3900" y="584200"/>
            <a:ext cx="101600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6213E"/>
                </a:solidFill>
                <a:latin typeface="Arial"/>
              </a:rPr>
              <a:t>Abstract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016000"/>
            <a:ext cx="11176000" cy="0"/>
          </a:xfrm>
          <a:prstGeom prst="line">
            <a:avLst/>
          </a:prstGeom>
          <a:ln w="1524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8000" y="4064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B6678"/>
                </a:solidFill>
                <a:latin typeface="Arial"/>
              </a:rPr>
              <a:t>02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600" y="1270000"/>
            <a:ext cx="107188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B6678"/>
                </a:solidFill>
                <a:latin typeface="Arial"/>
              </a:rPr>
              <a:t>Traditional academic credential verification depends on centralized relational databases and manual, paper-based pipelines that suffer from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600" y="1511300"/>
            <a:ext cx="107188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B6678"/>
                </a:solidFill>
                <a:latin typeface="Arial"/>
              </a:rPr>
              <a:t>high latency (7–14 days), recurring administrative cost, a single point of failure (SPOF), and easy forgery of unanchored documents.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600" y="2133600"/>
            <a:ext cx="107188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B6678"/>
                </a:solidFill>
                <a:latin typeface="Arial"/>
              </a:rPr>
              <a:t>UniVerify V2.0 is a decentralized web application that anchors academic certificate records onto the public Ethereum Sepolia Testnet,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6600" y="2374900"/>
            <a:ext cx="107188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B6678"/>
                </a:solidFill>
                <a:latin typeface="Arial"/>
              </a:rPr>
              <a:t>making them immutable, globally accessible and verifiable in near real time. The smart contract binds each record to a student’s unique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600" y="2616200"/>
            <a:ext cx="107188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B6678"/>
                </a:solidFill>
                <a:latin typeface="Arial"/>
              </a:rPr>
              <a:t>alphanumeric Registration Number using a string-keyed state mapping, delivering O(1) constant-time lookups and Role-Based Access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600" y="2857500"/>
            <a:ext cx="107188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B6678"/>
                </a:solidFill>
                <a:latin typeface="Arial"/>
              </a:rPr>
              <a:t>Control (RBAC) that restricts write operations to the deployer (University Admin) wallet. Verification is a gasless, read-only view call executed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600" y="3098800"/>
            <a:ext cx="107188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B6678"/>
                </a:solidFill>
                <a:latin typeface="Arial"/>
              </a:rPr>
              <a:t>client-side via Ethers.js and MetaMask.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600" y="4089400"/>
            <a:ext cx="10718800" cy="1168400"/>
          </a:xfrm>
          <a:prstGeom prst="roundRect">
            <a:avLst>
              <a:gd name="adj" fmla="val 8695"/>
            </a:avLst>
          </a:prstGeom>
          <a:solidFill>
            <a:srgbClr val="F1F5F9"/>
          </a:solidFill>
          <a:ln w="1524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9800" y="4241800"/>
            <a:ext cx="103124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7C86"/>
                </a:solidFill>
                <a:latin typeface="Arial"/>
              </a:rPr>
              <a:t>SCOPE (PHASED)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9800" y="4495800"/>
            <a:ext cx="103124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6213E"/>
                </a:solidFill>
                <a:latin typeface="Arial"/>
              </a:rPr>
              <a:t>Phase 1 (current, third year): a Production Ledger Prototype operated under a Manual Administrative Curation paradigm — the admin enters records 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9800" y="4705350"/>
            <a:ext cx="103124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6213E"/>
                </a:solidFill>
                <a:latin typeface="Arial"/>
              </a:rPr>
              <a:t>the Remix IDE and the hash field holds a manually-typed alphanumeric mock placeholder. Phase 2 (final year): an autonomous AI agent computes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800" y="4914900"/>
            <a:ext cx="103124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6213E"/>
                </a:solidFill>
                <a:latin typeface="Arial"/>
              </a:rPr>
              <a:t>deterministic SHA-256 / IPFS hashes and broadcasts transactions programmatically.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8000" y="6502400"/>
            <a:ext cx="11176000" cy="0"/>
          </a:xfrm>
          <a:prstGeom prst="line">
            <a:avLst/>
          </a:prstGeom>
          <a:ln w="1016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08000" y="6578600"/>
            <a:ext cx="7620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Arial"/>
              </a:rPr>
              <a:t>UniVerify V2.0  |  B.Tech CSE — Project 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000" y="6578600"/>
            <a:ext cx="11176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Arial"/>
              </a:rPr>
              <a:t>Decentralized Academic Certificate Verification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31800"/>
            <a:ext cx="88900" cy="381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6600" y="406400"/>
            <a:ext cx="965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Arial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3900" y="584200"/>
            <a:ext cx="101600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6213E"/>
                </a:solidFill>
                <a:latin typeface="Arial"/>
              </a:rPr>
              <a:t>Introduction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016000"/>
            <a:ext cx="11176000" cy="0"/>
          </a:xfrm>
          <a:prstGeom prst="line">
            <a:avLst/>
          </a:prstGeom>
          <a:ln w="1524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8000" y="4064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B6678"/>
                </a:solidFill>
                <a:latin typeface="Arial"/>
              </a:rPr>
              <a:t>03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600" y="1282700"/>
            <a:ext cx="177800" cy="162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2563EB"/>
                </a:solidFill>
                <a:latin typeface="Arial"/>
              </a:rPr>
              <a:t>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270000"/>
            <a:ext cx="6629400" cy="162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80" b="1" i="0">
                <a:solidFill>
                  <a:srgbClr val="16213E"/>
                </a:solidFill>
                <a:latin typeface="Arial"/>
              </a:rPr>
              <a:t>Problem context. 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4433" y="1270000"/>
            <a:ext cx="5220167" cy="162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B6678"/>
                </a:solidFill>
                <a:latin typeface="Arial"/>
              </a:rPr>
              <a:t>Academic credential fraud and slow manual verification cause real losses in admissions,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5200" y="1478077"/>
            <a:ext cx="6629400" cy="162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B6678"/>
                </a:solidFill>
                <a:latin typeface="Arial"/>
              </a:rPr>
              <a:t>recruitment and immigration screening.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600" y="1813154"/>
            <a:ext cx="177800" cy="162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2563EB"/>
                </a:solidFill>
                <a:latin typeface="Arial"/>
              </a:rPr>
              <a:t>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200" y="1800454"/>
            <a:ext cx="6629400" cy="162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80" b="1" i="0">
                <a:solidFill>
                  <a:srgbClr val="16213E"/>
                </a:solidFill>
                <a:latin typeface="Arial"/>
              </a:rPr>
              <a:t>Blockchain / DLT. 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19624" y="1800454"/>
            <a:ext cx="5174976" cy="162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B6678"/>
                </a:solidFill>
                <a:latin typeface="Arial"/>
              </a:rPr>
              <a:t>A decentralized, append-only ledger removes the central trusted authority and makes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008530"/>
            <a:ext cx="6629400" cy="162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B6678"/>
                </a:solidFill>
                <a:latin typeface="Arial"/>
              </a:rPr>
              <a:t>records tamper-evident.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600" y="2343607"/>
            <a:ext cx="177800" cy="162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2563EB"/>
                </a:solidFill>
                <a:latin typeface="Arial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200" y="2330907"/>
            <a:ext cx="6629400" cy="162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80" b="1" i="0">
                <a:solidFill>
                  <a:srgbClr val="16213E"/>
                </a:solidFill>
                <a:latin typeface="Arial"/>
              </a:rPr>
              <a:t>Smart contracts. 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8344" y="2330907"/>
            <a:ext cx="5256256" cy="162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B6678"/>
                </a:solidFill>
                <a:latin typeface="Arial"/>
              </a:rPr>
              <a:t>Self-executing code on the Ethereum Virtual Machine (EVM) enforces issuance rules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5200" y="2538984"/>
            <a:ext cx="6629400" cy="162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B6678"/>
                </a:solidFill>
                <a:latin typeface="Arial"/>
              </a:rPr>
              <a:t>deterministically at the protocol level.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600" y="2874061"/>
            <a:ext cx="177800" cy="162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2563EB"/>
                </a:solidFill>
                <a:latin typeface="Arial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2861361"/>
            <a:ext cx="6629400" cy="162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80" b="1" i="0">
                <a:solidFill>
                  <a:srgbClr val="16213E"/>
                </a:solidFill>
                <a:latin typeface="Arial"/>
              </a:rPr>
              <a:t>Decentralized identity. 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0995" y="2861361"/>
            <a:ext cx="4813605" cy="162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B6678"/>
                </a:solidFill>
                <a:latin typeface="Arial"/>
              </a:rPr>
              <a:t>Credentials are anchored on-chain and verified by anyone, anywhere, without contacting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5200" y="3069438"/>
            <a:ext cx="6629400" cy="162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B6678"/>
                </a:solidFill>
                <a:latin typeface="Arial"/>
              </a:rPr>
              <a:t>the issuing institution.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600" y="3404514"/>
            <a:ext cx="177800" cy="162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2563EB"/>
                </a:solidFill>
                <a:latin typeface="Arial"/>
              </a:rPr>
              <a:t>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5200" y="3391814"/>
            <a:ext cx="6629400" cy="162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80" b="1" i="0">
                <a:solidFill>
                  <a:srgbClr val="16213E"/>
                </a:solidFill>
                <a:latin typeface="Arial"/>
              </a:rPr>
              <a:t>Our contribution. 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83211" y="3391814"/>
            <a:ext cx="5211389" cy="162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B6678"/>
                </a:solidFill>
                <a:latin typeface="Arial"/>
              </a:rPr>
              <a:t>A string-keyed certificate registry with O(1) lookups, RBAC, and a gasless verification path.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8000" y="1397000"/>
            <a:ext cx="3175000" cy="584200"/>
          </a:xfrm>
          <a:prstGeom prst="roundRect">
            <a:avLst>
              <a:gd name="adj" fmla="val 17391"/>
            </a:avLst>
          </a:prstGeom>
          <a:solidFill>
            <a:srgbClr val="E3ECFD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28000" y="1397000"/>
            <a:ext cx="3175000" cy="63500"/>
          </a:xfrm>
          <a:prstGeom prst="roundRect">
            <a:avLst>
              <a:gd name="adj" fmla="val 4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0" y="1511300"/>
            <a:ext cx="29718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6213E"/>
                </a:solidFill>
                <a:latin typeface="Arial"/>
              </a:rPr>
              <a:t>Issuing University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1739900"/>
            <a:ext cx="2971800" cy="177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Arial"/>
              </a:rPr>
              <a:t>Admin wallet issues records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715500" y="1981200"/>
            <a:ext cx="0" cy="508000"/>
          </a:xfrm>
          <a:prstGeom prst="line">
            <a:avLst/>
          </a:prstGeom>
          <a:ln w="17780">
            <a:solidFill>
              <a:srgbClr val="5B667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128000" y="2489200"/>
            <a:ext cx="3175000" cy="584200"/>
          </a:xfrm>
          <a:prstGeom prst="roundRect">
            <a:avLst>
              <a:gd name="adj" fmla="val 17391"/>
            </a:avLst>
          </a:prstGeom>
          <a:solidFill>
            <a:srgbClr val="EDE7FC"/>
          </a:solidFill>
          <a:ln w="1778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128000" y="2489200"/>
            <a:ext cx="3175000" cy="63500"/>
          </a:xfrm>
          <a:prstGeom prst="roundRect">
            <a:avLst>
              <a:gd name="adj" fmla="val 4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0" y="2603500"/>
            <a:ext cx="29718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6213E"/>
                </a:solidFill>
                <a:latin typeface="Arial"/>
              </a:rPr>
              <a:t>Public Blockchain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2832100"/>
            <a:ext cx="2971800" cy="177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Arial"/>
              </a:rPr>
              <a:t>Immutable certificate ledger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715500" y="3073400"/>
            <a:ext cx="0" cy="508000"/>
          </a:xfrm>
          <a:prstGeom prst="line">
            <a:avLst/>
          </a:prstGeom>
          <a:ln w="17780">
            <a:solidFill>
              <a:srgbClr val="5B667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8128000" y="3581400"/>
            <a:ext cx="3175000" cy="584200"/>
          </a:xfrm>
          <a:prstGeom prst="roundRect">
            <a:avLst>
              <a:gd name="adj" fmla="val 17391"/>
            </a:avLst>
          </a:prstGeom>
          <a:solidFill>
            <a:srgbClr val="DCFCE7"/>
          </a:solidFill>
          <a:ln w="1778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128000" y="3581400"/>
            <a:ext cx="3175000" cy="63500"/>
          </a:xfrm>
          <a:prstGeom prst="roundRect">
            <a:avLst>
              <a:gd name="adj" fmla="val 4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0" y="3695700"/>
            <a:ext cx="29718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6213E"/>
                </a:solidFill>
                <a:latin typeface="Arial"/>
              </a:rPr>
              <a:t>Verifier / Recruiter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3924300"/>
            <a:ext cx="2971800" cy="177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Arial"/>
              </a:rPr>
              <a:t>Instant gasless verification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28000" y="4292600"/>
            <a:ext cx="317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B6678"/>
                </a:solidFill>
                <a:latin typeface="Arial"/>
              </a:rPr>
              <a:t>Trust shifts from an institution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28000" y="4470400"/>
            <a:ext cx="317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B6678"/>
                </a:solidFill>
                <a:latin typeface="Arial"/>
              </a:rPr>
              <a:t>to a public, verifiable protocol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08000" y="6502400"/>
            <a:ext cx="11176000" cy="0"/>
          </a:xfrm>
          <a:prstGeom prst="line">
            <a:avLst/>
          </a:prstGeom>
          <a:ln w="1016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08000" y="6578600"/>
            <a:ext cx="7620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Arial"/>
              </a:rPr>
              <a:t>UniVerify V2.0  |  B.Tech CSE — Project Review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8000" y="6578600"/>
            <a:ext cx="11176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Arial"/>
              </a:rPr>
              <a:t>Decentralized Academic Certificate Verification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31800"/>
            <a:ext cx="88900" cy="381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6600" y="406400"/>
            <a:ext cx="965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Arial"/>
              </a:rPr>
              <a:t>RELATED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3900" y="584200"/>
            <a:ext cx="101600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6213E"/>
                </a:solidFill>
                <a:latin typeface="Arial"/>
              </a:rPr>
              <a:t>Literature Survey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016000"/>
            <a:ext cx="11176000" cy="0"/>
          </a:xfrm>
          <a:prstGeom prst="line">
            <a:avLst/>
          </a:prstGeom>
          <a:ln w="1524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8000" y="4064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B6678"/>
                </a:solidFill>
                <a:latin typeface="Arial"/>
              </a:rPr>
              <a:t>04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600" y="889000"/>
            <a:ext cx="10414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B6678"/>
                </a:solidFill>
                <a:latin typeface="Arial"/>
              </a:rPr>
              <a:t>Representative foundational works — replace/extend with your cited papers.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6600" y="1219200"/>
            <a:ext cx="10718800" cy="3302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2800" y="1295400"/>
            <a:ext cx="10414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Ref.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81200" y="1295400"/>
            <a:ext cx="1778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Author (Year)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1295400"/>
            <a:ext cx="3683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Focus / Contribution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96200" y="1295400"/>
            <a:ext cx="37084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Limitation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6600" y="1549400"/>
            <a:ext cx="10718800" cy="812800"/>
          </a:xfrm>
          <a:prstGeom prst="rect">
            <a:avLst/>
          </a:prstGeom>
          <a:solidFill>
            <a:srgbClr val="FFFFFF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2800" y="1625600"/>
            <a:ext cx="508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563EB"/>
                </a:solidFill>
                <a:latin typeface="Arial"/>
              </a:rPr>
              <a:t>[1]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81200" y="1625600"/>
            <a:ext cx="1778000" cy="120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13E"/>
                </a:solidFill>
                <a:latin typeface="Arial"/>
              </a:rPr>
              <a:t>Nakamoto (2008)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6200" y="1625600"/>
            <a:ext cx="3683000" cy="120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Arial"/>
              </a:rPr>
              <a:t>Bitcoin: a peer-to-peer electronic cash system; first decentralized,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1778000"/>
            <a:ext cx="3683000" cy="120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Arial"/>
              </a:rPr>
              <a:t>tamper-evident ledger.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96200" y="1625600"/>
            <a:ext cx="3708400" cy="120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Arial"/>
              </a:rPr>
              <a:t>Not programmable; no native support for arbitrary credential records.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6600" y="2362200"/>
            <a:ext cx="10718800" cy="812800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2800" y="2438400"/>
            <a:ext cx="508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563EB"/>
                </a:solidFill>
                <a:latin typeface="Arial"/>
              </a:rPr>
              <a:t>[2]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81200" y="2438400"/>
            <a:ext cx="1778000" cy="120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13E"/>
                </a:solidFill>
                <a:latin typeface="Arial"/>
              </a:rPr>
              <a:t>Buterin (2014)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86200" y="2438400"/>
            <a:ext cx="3683000" cy="120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Arial"/>
              </a:rPr>
              <a:t>Ethereum: a Turing-complete smart-contract platform enabling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86200" y="2590800"/>
            <a:ext cx="3683000" cy="120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Arial"/>
              </a:rPr>
              <a:t>programmable trust on the EVM.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96200" y="2438400"/>
            <a:ext cx="3708400" cy="120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Arial"/>
              </a:rPr>
              <a:t>State-changing writes cost gas; throughput / scalability limits.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6600" y="3175000"/>
            <a:ext cx="10718800" cy="812800"/>
          </a:xfrm>
          <a:prstGeom prst="rect">
            <a:avLst/>
          </a:prstGeom>
          <a:solidFill>
            <a:srgbClr val="FFFFFF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2800" y="3251200"/>
            <a:ext cx="508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563EB"/>
                </a:solidFill>
                <a:latin typeface="Arial"/>
              </a:rPr>
              <a:t>[3]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81200" y="3251200"/>
            <a:ext cx="1778000" cy="120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13E"/>
                </a:solidFill>
                <a:latin typeface="Arial"/>
              </a:rPr>
              <a:t>Benet (2014)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86200" y="3251200"/>
            <a:ext cx="3683000" cy="120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Arial"/>
              </a:rPr>
              <a:t>IPFS: content-addressed, distributed file storage referenced by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6200" y="3403600"/>
            <a:ext cx="3683000" cy="120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Arial"/>
              </a:rPr>
              <a:t>cryptographic hash.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96200" y="3251200"/>
            <a:ext cx="3708400" cy="120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Arial"/>
              </a:rPr>
              <a:t>Availability depends on pinning; not a verification protocol by itself.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6600" y="3987800"/>
            <a:ext cx="10718800" cy="812800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2800" y="4064000"/>
            <a:ext cx="508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563EB"/>
                </a:solidFill>
                <a:latin typeface="Arial"/>
              </a:rPr>
              <a:t>[4]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81200" y="4064000"/>
            <a:ext cx="1778000" cy="120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13E"/>
                </a:solidFill>
                <a:latin typeface="Arial"/>
              </a:rPr>
              <a:t>MIT Media Lab — Blockcerts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81200" y="4216400"/>
            <a:ext cx="1778000" cy="120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13E"/>
                </a:solidFill>
                <a:latin typeface="Arial"/>
              </a:rPr>
              <a:t>(2016)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86200" y="4064000"/>
            <a:ext cx="3683000" cy="120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Arial"/>
              </a:rPr>
              <a:t>Open standard for issuing and verifying blockchain-anchored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86200" y="4216400"/>
            <a:ext cx="3683000" cy="120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Arial"/>
              </a:rPr>
              <a:t>academic certificates.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96200" y="4064000"/>
            <a:ext cx="3708400" cy="120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Arial"/>
              </a:rPr>
              <a:t>Relies on issuer infrastructure; anchoring/verification overhead.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6600" y="4800600"/>
            <a:ext cx="10718800" cy="812800"/>
          </a:xfrm>
          <a:prstGeom prst="rect">
            <a:avLst/>
          </a:prstGeom>
          <a:solidFill>
            <a:srgbClr val="FFFFFF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2800" y="4876800"/>
            <a:ext cx="508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563EB"/>
                </a:solidFill>
                <a:latin typeface="Arial"/>
              </a:rPr>
              <a:t>[5]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81200" y="4876800"/>
            <a:ext cx="1778000" cy="120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13E"/>
                </a:solidFill>
                <a:latin typeface="Arial"/>
              </a:rPr>
              <a:t>Grech &amp; Camilleri (2017)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86200" y="4876800"/>
            <a:ext cx="3683000" cy="120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Arial"/>
              </a:rPr>
              <a:t>EU JRC study on blockchain in education; surveys credentialing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86200" y="5029200"/>
            <a:ext cx="3683000" cy="120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Arial"/>
              </a:rPr>
              <a:t>use-cases.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96200" y="4876800"/>
            <a:ext cx="3708400" cy="120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Arial"/>
              </a:rPr>
              <a:t>Highlights governance, scalability and adoption challenges.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08000" y="6502400"/>
            <a:ext cx="11176000" cy="0"/>
          </a:xfrm>
          <a:prstGeom prst="line">
            <a:avLst/>
          </a:prstGeom>
          <a:ln w="1016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08000" y="6578600"/>
            <a:ext cx="7620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Arial"/>
              </a:rPr>
              <a:t>UniVerify V2.0  |  B.Tech CSE — Project Review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8000" y="6578600"/>
            <a:ext cx="11176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Arial"/>
              </a:rPr>
              <a:t>Decentralized Academic Certificate Verification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31800"/>
            <a:ext cx="88900" cy="381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6600" y="406400"/>
            <a:ext cx="965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Arial"/>
              </a:rPr>
              <a:t>CURRENT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3900" y="584200"/>
            <a:ext cx="101600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6213E"/>
                </a:solidFill>
                <a:latin typeface="Arial"/>
              </a:rPr>
              <a:t>Existing System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016000"/>
            <a:ext cx="11176000" cy="0"/>
          </a:xfrm>
          <a:prstGeom prst="line">
            <a:avLst/>
          </a:prstGeom>
          <a:ln w="1524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8000" y="4064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B6678"/>
                </a:solidFill>
                <a:latin typeface="Arial"/>
              </a:rPr>
              <a:t>05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600" y="1282700"/>
            <a:ext cx="1778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Arial"/>
              </a:rPr>
              <a:t>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270000"/>
            <a:ext cx="104902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6213E"/>
                </a:solidFill>
                <a:latin typeface="Arial"/>
              </a:rPr>
              <a:t>Centralized RDBMS. 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43937" y="1270000"/>
            <a:ext cx="8811463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B6678"/>
                </a:solidFill>
                <a:latin typeface="Arial"/>
              </a:rPr>
              <a:t>Each institution stores degree records in a private relational database hosted on its own servers.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6600" y="1621028"/>
            <a:ext cx="1778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Arial"/>
              </a:rPr>
              <a:t>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1608328"/>
            <a:ext cx="104902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6213E"/>
                </a:solidFill>
                <a:latin typeface="Arial"/>
              </a:rPr>
              <a:t>Manual / paper verification. 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85630" y="1608328"/>
            <a:ext cx="826977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B6678"/>
                </a:solidFill>
                <a:latin typeface="Arial"/>
              </a:rPr>
              <a:t>Verifiers email or call the registrar; officials manually search records and issue confirmation letters.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600" y="1959356"/>
            <a:ext cx="1778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Arial"/>
              </a:rPr>
              <a:t>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1946656"/>
            <a:ext cx="104902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6213E"/>
                </a:solidFill>
                <a:latin typeface="Arial"/>
              </a:rPr>
              <a:t>Third-party agencies. 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26817" y="1946656"/>
            <a:ext cx="8728583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B6678"/>
                </a:solidFill>
                <a:latin typeface="Arial"/>
              </a:rPr>
              <a:t>Background-verification companies act as paid intermediaries, adding cost and further delay.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600" y="2297684"/>
            <a:ext cx="1778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Arial"/>
              </a:rPr>
              <a:t>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284984"/>
            <a:ext cx="104902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6213E"/>
                </a:solidFill>
                <a:latin typeface="Arial"/>
              </a:rPr>
              <a:t>Standalone digital PDFs. 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2793" y="2284984"/>
            <a:ext cx="8462607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B6678"/>
                </a:solidFill>
                <a:latin typeface="Arial"/>
              </a:rPr>
              <a:t>Some institutions issue signed PDF certificates that are easy to copy and visually manipulate.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600" y="2636012"/>
            <a:ext cx="1778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Arial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2623312"/>
            <a:ext cx="104902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6213E"/>
                </a:solidFill>
                <a:latin typeface="Arial"/>
              </a:rPr>
              <a:t>Trust model. 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47761" y="2623312"/>
            <a:ext cx="9407639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B6678"/>
                </a:solidFill>
                <a:latin typeface="Arial"/>
              </a:rPr>
              <a:t>Verification trust rests entirely on the availability and integrity of one central authority and its servers.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08000" y="6502400"/>
            <a:ext cx="11176000" cy="0"/>
          </a:xfrm>
          <a:prstGeom prst="line">
            <a:avLst/>
          </a:prstGeom>
          <a:ln w="1016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08000" y="6578600"/>
            <a:ext cx="7620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Arial"/>
              </a:rPr>
              <a:t>UniVerify V2.0  |  B.Tech CSE — Project Review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000" y="6578600"/>
            <a:ext cx="11176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Arial"/>
              </a:rPr>
              <a:t>Decentralized Academic Certificate Verification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31800"/>
            <a:ext cx="88900" cy="381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6600" y="406400"/>
            <a:ext cx="965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Arial"/>
              </a:rPr>
              <a:t>EXISTING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3900" y="584200"/>
            <a:ext cx="101600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6213E"/>
                </a:solidFill>
                <a:latin typeface="Arial"/>
              </a:rPr>
              <a:t>Architecture of Existing System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016000"/>
            <a:ext cx="11176000" cy="0"/>
          </a:xfrm>
          <a:prstGeom prst="line">
            <a:avLst/>
          </a:prstGeom>
          <a:ln w="1524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8000" y="4064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B6678"/>
                </a:solidFill>
                <a:latin typeface="Arial"/>
              </a:rPr>
              <a:t>06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600" y="889000"/>
            <a:ext cx="10414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B6678"/>
                </a:solidFill>
                <a:latin typeface="Arial"/>
              </a:rPr>
              <a:t>Centralized request–response model with a single point of failure.</a:t>
            </a:r>
          </a:p>
        </p:txBody>
      </p:sp>
      <p:sp>
        <p:nvSpPr>
          <p:cNvPr id="8" name="Oval 7"/>
          <p:cNvSpPr/>
          <p:nvPr/>
        </p:nvSpPr>
        <p:spPr>
          <a:xfrm>
            <a:off x="1437640" y="3175000"/>
            <a:ext cx="172720" cy="172720"/>
          </a:xfrm>
          <a:prstGeom prst="ellipse">
            <a:avLst/>
          </a:prstGeom>
          <a:noFill/>
          <a:ln w="20320">
            <a:solidFill>
              <a:srgbClr val="1F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524000" y="3347720"/>
            <a:ext cx="0" cy="237490"/>
          </a:xfrm>
          <a:prstGeom prst="line">
            <a:avLst/>
          </a:prstGeom>
          <a:ln w="20320">
            <a:solidFill>
              <a:srgbClr val="1F3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372870" y="3434080"/>
            <a:ext cx="302260" cy="0"/>
          </a:xfrm>
          <a:prstGeom prst="line">
            <a:avLst/>
          </a:prstGeom>
          <a:ln w="20320">
            <a:solidFill>
              <a:srgbClr val="1F3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394460" y="3585210"/>
            <a:ext cx="129540" cy="172720"/>
          </a:xfrm>
          <a:prstGeom prst="line">
            <a:avLst/>
          </a:prstGeom>
          <a:ln w="20320">
            <a:solidFill>
              <a:srgbClr val="1F3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524000" y="3585210"/>
            <a:ext cx="129540" cy="172720"/>
          </a:xfrm>
          <a:prstGeom prst="line">
            <a:avLst/>
          </a:prstGeom>
          <a:ln w="20320">
            <a:solidFill>
              <a:srgbClr val="1F3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5500" y="3808730"/>
            <a:ext cx="13970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213E"/>
                </a:solidFill>
                <a:latin typeface="Arial"/>
              </a:rPr>
              <a:t>Verifier /</a:t>
            </a:r>
          </a:p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213E"/>
                </a:solidFill>
                <a:latin typeface="Arial"/>
              </a:rPr>
              <a:t>Recruiter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75000" y="2921000"/>
            <a:ext cx="2159000" cy="762000"/>
          </a:xfrm>
          <a:prstGeom prst="roundRect">
            <a:avLst>
              <a:gd name="adj" fmla="val 13333"/>
            </a:avLst>
          </a:prstGeom>
          <a:solidFill>
            <a:srgbClr val="E3ECFD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175000" y="2921000"/>
            <a:ext cx="2159000" cy="63500"/>
          </a:xfrm>
          <a:prstGeom prst="roundRect">
            <a:avLst>
              <a:gd name="adj" fmla="val 4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51200" y="2984500"/>
            <a:ext cx="2006600" cy="698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6213E"/>
                </a:solidFill>
                <a:latin typeface="Arial"/>
              </a:rPr>
              <a:t>University</a:t>
            </a:r>
          </a:p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6213E"/>
                </a:solidFill>
                <a:latin typeface="Arial"/>
              </a:rPr>
              <a:t>Web Server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75000" y="1397000"/>
            <a:ext cx="2159000" cy="711200"/>
          </a:xfrm>
          <a:prstGeom prst="roundRect">
            <a:avLst>
              <a:gd name="adj" fmla="val 14285"/>
            </a:avLst>
          </a:prstGeom>
          <a:solidFill>
            <a:srgbClr val="FEF1D6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175000" y="1397000"/>
            <a:ext cx="2159000" cy="63500"/>
          </a:xfrm>
          <a:prstGeom prst="roundRect">
            <a:avLst>
              <a:gd name="adj" fmla="val 4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51200" y="1460500"/>
            <a:ext cx="2006600" cy="6477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13E"/>
                </a:solidFill>
                <a:latin typeface="Arial"/>
              </a:rPr>
              <a:t>Registrar / Admin</a:t>
            </a:r>
          </a:p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13E"/>
                </a:solidFill>
                <a:latin typeface="Arial"/>
              </a:rPr>
              <a:t>(manual entry)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0" y="2921000"/>
            <a:ext cx="2286000" cy="762000"/>
          </a:xfrm>
          <a:prstGeom prst="roundRect">
            <a:avLst>
              <a:gd name="adj" fmla="val 13333"/>
            </a:avLst>
          </a:prstGeom>
          <a:solidFill>
            <a:srgbClr val="EDE7FC"/>
          </a:solidFill>
          <a:ln w="1778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858000" y="2921000"/>
            <a:ext cx="2286000" cy="63500"/>
          </a:xfrm>
          <a:prstGeom prst="roundRect">
            <a:avLst>
              <a:gd name="adj" fmla="val 4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34200" y="2984500"/>
            <a:ext cx="2133600" cy="698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6213E"/>
                </a:solidFill>
                <a:latin typeface="Arial"/>
              </a:rPr>
              <a:t>Centralized</a:t>
            </a:r>
          </a:p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6213E"/>
                </a:solidFill>
                <a:latin typeface="Arial"/>
              </a:rPr>
              <a:t>RDBMS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0" y="1397000"/>
            <a:ext cx="2286000" cy="711200"/>
          </a:xfrm>
          <a:prstGeom prst="roundRect">
            <a:avLst>
              <a:gd name="adj" fmla="val 14285"/>
            </a:avLst>
          </a:prstGeom>
          <a:solidFill>
            <a:srgbClr val="EEF1F5"/>
          </a:solidFill>
          <a:ln w="1778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58000" y="1397000"/>
            <a:ext cx="2286000" cy="63500"/>
          </a:xfrm>
          <a:prstGeom prst="roundRect">
            <a:avLst>
              <a:gd name="adj" fmla="val 40000"/>
            </a:avLst>
          </a:prstGeom>
          <a:solidFill>
            <a:srgbClr val="5B6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4200" y="1460500"/>
            <a:ext cx="2133600" cy="6477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13E"/>
                </a:solidFill>
                <a:latin typeface="Arial"/>
              </a:rPr>
              <a:t>Backup Server</a:t>
            </a:r>
          </a:p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13E"/>
                </a:solidFill>
                <a:latin typeface="Arial"/>
              </a:rPr>
              <a:t>(optional)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222500" y="3200400"/>
            <a:ext cx="952500" cy="76200"/>
          </a:xfrm>
          <a:prstGeom prst="line">
            <a:avLst/>
          </a:prstGeom>
          <a:ln w="19050">
            <a:solidFill>
              <a:srgbClr val="5B667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905000" y="3429000"/>
            <a:ext cx="1651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678"/>
                </a:solidFill>
                <a:latin typeface="Arial"/>
              </a:rPr>
              <a:t>1. request (regNo)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4254500" y="2108200"/>
            <a:ext cx="0" cy="812800"/>
          </a:xfrm>
          <a:prstGeom prst="line">
            <a:avLst/>
          </a:prstGeom>
          <a:ln w="19050">
            <a:solidFill>
              <a:srgbClr val="D97706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895600" y="2476500"/>
            <a:ext cx="1524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678"/>
                </a:solidFill>
                <a:latin typeface="Arial"/>
              </a:rPr>
              <a:t>manual curation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334000" y="3276600"/>
            <a:ext cx="1524000" cy="0"/>
          </a:xfrm>
          <a:prstGeom prst="line">
            <a:avLst/>
          </a:prstGeom>
          <a:ln w="19050">
            <a:solidFill>
              <a:srgbClr val="5B6678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461000" y="3429000"/>
            <a:ext cx="1524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678"/>
                </a:solidFill>
                <a:latin typeface="Arial"/>
              </a:rPr>
              <a:t>2. SQL query / write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8001000" y="2108200"/>
            <a:ext cx="0" cy="812800"/>
          </a:xfrm>
          <a:prstGeom prst="line">
            <a:avLst/>
          </a:prstGeom>
          <a:ln w="16510">
            <a:solidFill>
              <a:srgbClr val="5B6678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 flipV="1">
            <a:off x="2222500" y="3429000"/>
            <a:ext cx="952500" cy="190500"/>
          </a:xfrm>
          <a:prstGeom prst="line">
            <a:avLst/>
          </a:prstGeom>
          <a:ln w="19050">
            <a:solidFill>
              <a:srgbClr val="5B667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905000" y="368300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678"/>
                </a:solidFill>
                <a:latin typeface="Arial"/>
              </a:rPr>
              <a:t>3. result (7–14 days)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52000" y="2540000"/>
            <a:ext cx="1905000" cy="1397000"/>
          </a:xfrm>
          <a:prstGeom prst="roundRect">
            <a:avLst>
              <a:gd name="adj" fmla="val 7272"/>
            </a:avLst>
          </a:prstGeom>
          <a:solidFill>
            <a:srgbClr val="FCE3E0"/>
          </a:solidFill>
          <a:ln w="1651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79000" y="2667000"/>
            <a:ext cx="1651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C2626"/>
                </a:solidFill>
                <a:latin typeface="Arial"/>
              </a:rPr>
              <a:t>⚠ SPOF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79000" y="2921000"/>
            <a:ext cx="1651000" cy="120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13E"/>
                </a:solidFill>
                <a:latin typeface="Arial"/>
              </a:rPr>
              <a:t>A single server/DB outage 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79000" y="3086100"/>
            <a:ext cx="1651000" cy="120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13E"/>
                </a:solidFill>
                <a:latin typeface="Arial"/>
              </a:rPr>
              <a:t>breach halts or corrupts all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79000" y="3251200"/>
            <a:ext cx="1651000" cy="120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13E"/>
                </a:solidFill>
                <a:latin typeface="Arial"/>
              </a:rPr>
              <a:t>verification.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08000" y="6502400"/>
            <a:ext cx="11176000" cy="0"/>
          </a:xfrm>
          <a:prstGeom prst="line">
            <a:avLst/>
          </a:prstGeom>
          <a:ln w="1016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08000" y="6578600"/>
            <a:ext cx="7620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Arial"/>
              </a:rPr>
              <a:t>UniVerify V2.0  |  B.Tech CSE — Project Review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8000" y="6578600"/>
            <a:ext cx="11176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Arial"/>
              </a:rPr>
              <a:t>Decentralized Academic Certificate Verification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31800"/>
            <a:ext cx="88900" cy="381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6600" y="406400"/>
            <a:ext cx="965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Arial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3900" y="584200"/>
            <a:ext cx="101600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6213E"/>
                </a:solidFill>
                <a:latin typeface="Arial"/>
              </a:rPr>
              <a:t>Drawbacks &amp; Problem Statement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016000"/>
            <a:ext cx="11176000" cy="0"/>
          </a:xfrm>
          <a:prstGeom prst="line">
            <a:avLst/>
          </a:prstGeom>
          <a:ln w="1524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8000" y="4064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B6678"/>
                </a:solidFill>
                <a:latin typeface="Arial"/>
              </a:rPr>
              <a:t>07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6600" y="1270000"/>
            <a:ext cx="2603500" cy="1219200"/>
          </a:xfrm>
          <a:prstGeom prst="roundRect">
            <a:avLst>
              <a:gd name="adj" fmla="val 8333"/>
            </a:avLst>
          </a:prstGeom>
          <a:solidFill>
            <a:srgbClr val="FEF1D6"/>
          </a:solidFill>
          <a:ln w="1524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6600" y="1270000"/>
            <a:ext cx="2603500" cy="63500"/>
          </a:xfrm>
          <a:prstGeom prst="roundRect">
            <a:avLst>
              <a:gd name="adj" fmla="val 4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9000" y="1473200"/>
            <a:ext cx="22987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6213E"/>
                </a:solidFill>
                <a:latin typeface="Arial"/>
              </a:rPr>
              <a:t>High latency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" y="1778000"/>
            <a:ext cx="2298700" cy="133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678"/>
                </a:solidFill>
                <a:latin typeface="Arial"/>
              </a:rPr>
              <a:t>Manual lookups take 7–14 days,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" y="1955800"/>
            <a:ext cx="2298700" cy="133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678"/>
                </a:solidFill>
                <a:latin typeface="Arial"/>
              </a:rPr>
              <a:t>delaying admissions and hiring.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05200" y="1270000"/>
            <a:ext cx="2603500" cy="1219200"/>
          </a:xfrm>
          <a:prstGeom prst="roundRect">
            <a:avLst>
              <a:gd name="adj" fmla="val 8333"/>
            </a:avLst>
          </a:prstGeom>
          <a:solidFill>
            <a:srgbClr val="FCE3E0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05200" y="1270000"/>
            <a:ext cx="2603500" cy="63500"/>
          </a:xfrm>
          <a:prstGeom prst="roundRect">
            <a:avLst>
              <a:gd name="adj" fmla="val 4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0" y="1473200"/>
            <a:ext cx="22987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6213E"/>
                </a:solidFill>
                <a:latin typeface="Arial"/>
              </a:rPr>
              <a:t>Single point of failure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1778000"/>
            <a:ext cx="2298700" cy="133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678"/>
                </a:solidFill>
                <a:latin typeface="Arial"/>
              </a:rPr>
              <a:t>Central server/DB outage or breach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1955800"/>
            <a:ext cx="2298700" cy="133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678"/>
                </a:solidFill>
                <a:latin typeface="Arial"/>
              </a:rPr>
              <a:t>stops everything.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73800" y="1270000"/>
            <a:ext cx="2603500" cy="1219200"/>
          </a:xfrm>
          <a:prstGeom prst="roundRect">
            <a:avLst>
              <a:gd name="adj" fmla="val 8333"/>
            </a:avLst>
          </a:prstGeom>
          <a:solidFill>
            <a:srgbClr val="E3ECFD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73800" y="1270000"/>
            <a:ext cx="2603500" cy="63500"/>
          </a:xfrm>
          <a:prstGeom prst="roundRect">
            <a:avLst>
              <a:gd name="adj" fmla="val 4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6200" y="1473200"/>
            <a:ext cx="22987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6213E"/>
                </a:solidFill>
                <a:latin typeface="Arial"/>
              </a:rPr>
              <a:t>Administrative 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6200" y="1778000"/>
            <a:ext cx="2298700" cy="133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678"/>
                </a:solidFill>
                <a:latin typeface="Arial"/>
              </a:rPr>
              <a:t>Repeated manual audits create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1955800"/>
            <a:ext cx="2298700" cy="133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678"/>
                </a:solidFill>
                <a:latin typeface="Arial"/>
              </a:rPr>
              <a:t>recurring overhead.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42400" y="1270000"/>
            <a:ext cx="2603500" cy="1219200"/>
          </a:xfrm>
          <a:prstGeom prst="roundRect">
            <a:avLst>
              <a:gd name="adj" fmla="val 8333"/>
            </a:avLst>
          </a:prstGeom>
          <a:solidFill>
            <a:srgbClr val="EDE7FC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42400" y="1270000"/>
            <a:ext cx="2603500" cy="63500"/>
          </a:xfrm>
          <a:prstGeom prst="roundRect">
            <a:avLst>
              <a:gd name="adj" fmla="val 4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94800" y="1473200"/>
            <a:ext cx="22987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6213E"/>
                </a:solidFill>
                <a:latin typeface="Arial"/>
              </a:rPr>
              <a:t>Credential forgery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4800" y="1778000"/>
            <a:ext cx="2298700" cy="133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678"/>
                </a:solidFill>
                <a:latin typeface="Arial"/>
              </a:rPr>
              <a:t>Unanchored PDFs are trivially copied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94800" y="1955800"/>
            <a:ext cx="2298700" cy="133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678"/>
                </a:solidFill>
                <a:latin typeface="Arial"/>
              </a:rPr>
              <a:t>or altered.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6600" y="2844800"/>
            <a:ext cx="10718800" cy="1270000"/>
          </a:xfrm>
          <a:prstGeom prst="roundRect">
            <a:avLst>
              <a:gd name="adj" fmla="val 10000"/>
            </a:avLst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5200" y="3022600"/>
            <a:ext cx="103124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9D6F5"/>
                </a:solidFill>
                <a:latin typeface="Arial"/>
              </a:rPr>
              <a:t>PROBLEM STATEMENT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5200" y="3327400"/>
            <a:ext cx="103124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Design a verification protocol that eliminates the centralized single point of failure and manual latency of conventional systems by anchoring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5200" y="3556000"/>
            <a:ext cx="103124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tamper-evident certificate records on a public blockchain — enabling instant, constant-time, globally accessible verification while restricting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200" y="3784600"/>
            <a:ext cx="103124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issuance to an authorized institutional authority.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08000" y="6502400"/>
            <a:ext cx="11176000" cy="0"/>
          </a:xfrm>
          <a:prstGeom prst="line">
            <a:avLst/>
          </a:prstGeom>
          <a:ln w="1016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08000" y="6578600"/>
            <a:ext cx="7620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Arial"/>
              </a:rPr>
              <a:t>UniVerify V2.0  |  B.Tech CSE — Project Review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8000" y="6578600"/>
            <a:ext cx="11176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Arial"/>
              </a:rPr>
              <a:t>Decentralized Academic Certificate Verification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31800"/>
            <a:ext cx="88900" cy="381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6600" y="406400"/>
            <a:ext cx="965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Arial"/>
              </a:rPr>
              <a:t>OUR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3900" y="584200"/>
            <a:ext cx="101600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6213E"/>
                </a:solidFill>
                <a:latin typeface="Arial"/>
              </a:rPr>
              <a:t>Proposed System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016000"/>
            <a:ext cx="11176000" cy="0"/>
          </a:xfrm>
          <a:prstGeom prst="line">
            <a:avLst/>
          </a:prstGeom>
          <a:ln w="1524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8000" y="4064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B6678"/>
                </a:solidFill>
                <a:latin typeface="Arial"/>
              </a:rPr>
              <a:t>08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600" y="1282700"/>
            <a:ext cx="177800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5"/>
              </a:lnSpc>
              <a:spcBef>
                <a:spcPts val="0"/>
              </a:spcBef>
              <a:spcAft>
                <a:spcPts val="0"/>
              </a:spcAft>
            </a:pPr>
            <a:r>
              <a:rPr sz="1060" b="1" i="0">
                <a:solidFill>
                  <a:srgbClr val="2563EB"/>
                </a:solidFill>
                <a:latin typeface="Arial"/>
              </a:rPr>
              <a:t>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270000"/>
            <a:ext cx="6629400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16213E"/>
                </a:solidFill>
                <a:latin typeface="Arial"/>
              </a:rPr>
              <a:t>On-chain anchoring. 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10206" y="1270000"/>
            <a:ext cx="4984394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5B6678"/>
                </a:solidFill>
                <a:latin typeface="Arial"/>
              </a:rPr>
              <a:t>Certificate records are written to a Solidity smart contract on the Ethereum Sepolia Testnet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5200" y="1474826"/>
            <a:ext cx="6629400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5B6678"/>
                </a:solidFill>
                <a:latin typeface="Arial"/>
              </a:rPr>
              <a:t>immutable once mined.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600" y="1793951"/>
            <a:ext cx="177800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5"/>
              </a:lnSpc>
              <a:spcBef>
                <a:spcPts val="0"/>
              </a:spcBef>
              <a:spcAft>
                <a:spcPts val="0"/>
              </a:spcAft>
            </a:pPr>
            <a:r>
              <a:rPr sz="1060" b="1" i="0">
                <a:solidFill>
                  <a:srgbClr val="2563EB"/>
                </a:solidFill>
                <a:latin typeface="Arial"/>
              </a:rPr>
              <a:t>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200" y="1781251"/>
            <a:ext cx="6629400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16213E"/>
                </a:solidFill>
                <a:latin typeface="Arial"/>
              </a:rPr>
              <a:t>Alphanumeric keyspace mapping. 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2015" y="1781251"/>
            <a:ext cx="3952585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5B6678"/>
                </a:solidFill>
                <a:latin typeface="Arial"/>
              </a:rPr>
              <a:t>mapping(string =&gt; Certificate) keyed by Registration Number gives O(1) constant-time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1986077"/>
            <a:ext cx="6629400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5B6678"/>
                </a:solidFill>
                <a:latin typeface="Arial"/>
              </a:rPr>
              <a:t>retrieval.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600" y="2305202"/>
            <a:ext cx="177800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5"/>
              </a:lnSpc>
              <a:spcBef>
                <a:spcPts val="0"/>
              </a:spcBef>
              <a:spcAft>
                <a:spcPts val="0"/>
              </a:spcAft>
            </a:pPr>
            <a:r>
              <a:rPr sz="1060" b="1" i="0">
                <a:solidFill>
                  <a:srgbClr val="2563EB"/>
                </a:solidFill>
                <a:latin typeface="Arial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200" y="2292502"/>
            <a:ext cx="6629400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16213E"/>
                </a:solidFill>
                <a:latin typeface="Arial"/>
              </a:rPr>
              <a:t>Role-Based Access Control. 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97159" y="2292502"/>
            <a:ext cx="4397441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5B6678"/>
                </a:solidFill>
                <a:latin typeface="Arial"/>
              </a:rPr>
              <a:t>The constructor freezes the deployer as the sole admin; unauthorized writes revert at the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5200" y="2497328"/>
            <a:ext cx="6629400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5B6678"/>
                </a:solidFill>
                <a:latin typeface="Arial"/>
              </a:rPr>
              <a:t>EVM layer.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600" y="2816454"/>
            <a:ext cx="177800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5"/>
              </a:lnSpc>
              <a:spcBef>
                <a:spcPts val="0"/>
              </a:spcBef>
              <a:spcAft>
                <a:spcPts val="0"/>
              </a:spcAft>
            </a:pPr>
            <a:r>
              <a:rPr sz="1060" b="1" i="0">
                <a:solidFill>
                  <a:srgbClr val="2563EB"/>
                </a:solidFill>
                <a:latin typeface="Arial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2803754"/>
            <a:ext cx="6629400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16213E"/>
                </a:solidFill>
                <a:latin typeface="Arial"/>
              </a:rPr>
              <a:t>Gasless verification. 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0686" y="2803754"/>
            <a:ext cx="4983914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5B6678"/>
                </a:solidFill>
                <a:latin typeface="Arial"/>
              </a:rPr>
              <a:t>Verifiers call a read-only view function via Ethers.js — instant and free of gas.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6600" y="3122879"/>
            <a:ext cx="177800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5"/>
              </a:lnSpc>
              <a:spcBef>
                <a:spcPts val="0"/>
              </a:spcBef>
              <a:spcAft>
                <a:spcPts val="0"/>
              </a:spcAft>
            </a:pPr>
            <a:r>
              <a:rPr sz="1060" b="1" i="0">
                <a:solidFill>
                  <a:srgbClr val="2563EB"/>
                </a:solidFill>
                <a:latin typeface="Arial"/>
              </a:rPr>
              <a:t>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110179"/>
            <a:ext cx="6629400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16213E"/>
                </a:solidFill>
                <a:latin typeface="Arial"/>
              </a:rPr>
              <a:t>Safety filter. 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70126" y="3110179"/>
            <a:ext cx="5624474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5B6678"/>
                </a:solidFill>
                <a:latin typeface="Arial"/>
              </a:rPr>
              <a:t>Zero-state (blank) results are intercepted and shown as “Record Not Found”.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77200" y="1397000"/>
            <a:ext cx="1574800" cy="558800"/>
          </a:xfrm>
          <a:prstGeom prst="roundRect">
            <a:avLst>
              <a:gd name="adj" fmla="val 18181"/>
            </a:avLst>
          </a:prstGeom>
          <a:solidFill>
            <a:srgbClr val="EDE7FC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77200" y="1397000"/>
            <a:ext cx="1574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6213E"/>
                </a:solidFill>
                <a:latin typeface="Arial"/>
              </a:rPr>
              <a:t>Immutable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91700" y="1397000"/>
            <a:ext cx="1574800" cy="558800"/>
          </a:xfrm>
          <a:prstGeom prst="roundRect">
            <a:avLst>
              <a:gd name="adj" fmla="val 18181"/>
            </a:avLst>
          </a:prstGeom>
          <a:solidFill>
            <a:srgbClr val="DCFCE7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91700" y="1397000"/>
            <a:ext cx="1574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6213E"/>
                </a:solidFill>
                <a:latin typeface="Arial"/>
              </a:rPr>
              <a:t>O(1) lookup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77200" y="2108200"/>
            <a:ext cx="1574800" cy="558800"/>
          </a:xfrm>
          <a:prstGeom prst="roundRect">
            <a:avLst>
              <a:gd name="adj" fmla="val 18181"/>
            </a:avLst>
          </a:prstGeom>
          <a:solidFill>
            <a:srgbClr val="FCE3E0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77200" y="2108200"/>
            <a:ext cx="1574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6213E"/>
                </a:solidFill>
                <a:latin typeface="Arial"/>
              </a:rPr>
              <a:t>No SPOF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791700" y="2108200"/>
            <a:ext cx="1574800" cy="558800"/>
          </a:xfrm>
          <a:prstGeom prst="roundRect">
            <a:avLst>
              <a:gd name="adj" fmla="val 18181"/>
            </a:avLst>
          </a:prstGeom>
          <a:solidFill>
            <a:srgbClr val="D6F1F2"/>
          </a:solidFill>
          <a:ln w="1524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91700" y="2108200"/>
            <a:ext cx="1574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6213E"/>
                </a:solidFill>
                <a:latin typeface="Arial"/>
              </a:rPr>
              <a:t>Gasless reads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77200" y="2819400"/>
            <a:ext cx="1574800" cy="558800"/>
          </a:xfrm>
          <a:prstGeom prst="roundRect">
            <a:avLst>
              <a:gd name="adj" fmla="val 18181"/>
            </a:avLst>
          </a:prstGeom>
          <a:solidFill>
            <a:srgbClr val="E3ECFD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77200" y="2819400"/>
            <a:ext cx="1574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6213E"/>
                </a:solidFill>
                <a:latin typeface="Arial"/>
              </a:rPr>
              <a:t>RBAC-secured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791700" y="2819400"/>
            <a:ext cx="1574800" cy="558800"/>
          </a:xfrm>
          <a:prstGeom prst="roundRect">
            <a:avLst>
              <a:gd name="adj" fmla="val 18181"/>
            </a:avLst>
          </a:prstGeom>
          <a:solidFill>
            <a:srgbClr val="FEF1D6"/>
          </a:solidFill>
          <a:ln w="1524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91700" y="2819400"/>
            <a:ext cx="1574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6213E"/>
                </a:solidFill>
                <a:latin typeface="Arial"/>
              </a:rPr>
              <a:t>Global access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77200" y="3683000"/>
            <a:ext cx="3289300" cy="889000"/>
          </a:xfrm>
          <a:prstGeom prst="roundRect">
            <a:avLst>
              <a:gd name="adj" fmla="val 11428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0" y="3810000"/>
            <a:ext cx="29845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7C86"/>
                </a:solidFill>
                <a:latin typeface="Arial"/>
              </a:rPr>
              <a:t>PHASE NOTE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4013200"/>
            <a:ext cx="2984500" cy="120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Arial"/>
              </a:rPr>
              <a:t>Phase 1 uses manual entry in Remix with a mock hash;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0" y="4178300"/>
            <a:ext cx="2984500" cy="120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Arial"/>
              </a:rPr>
              <a:t>real SHA-256 / IPFS hashing arrives in Phase 2.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08000" y="6502400"/>
            <a:ext cx="11176000" cy="0"/>
          </a:xfrm>
          <a:prstGeom prst="line">
            <a:avLst/>
          </a:prstGeom>
          <a:ln w="1016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08000" y="6578600"/>
            <a:ext cx="7620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Arial"/>
              </a:rPr>
              <a:t>UniVerify V2.0  |  B.Tech CSE — Project Review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8000" y="6578600"/>
            <a:ext cx="11176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Arial"/>
              </a:rPr>
              <a:t>Decentralized Academic Certificate Verification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31800"/>
            <a:ext cx="88900" cy="381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6600" y="406400"/>
            <a:ext cx="965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Arial"/>
              </a:rPr>
              <a:t>PROPOSED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3900" y="584200"/>
            <a:ext cx="101600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6213E"/>
                </a:solidFill>
                <a:latin typeface="Arial"/>
              </a:rPr>
              <a:t>Architecture of Proposed System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016000"/>
            <a:ext cx="11176000" cy="0"/>
          </a:xfrm>
          <a:prstGeom prst="line">
            <a:avLst/>
          </a:prstGeom>
          <a:ln w="1524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8000" y="4064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B6678"/>
                </a:solidFill>
                <a:latin typeface="Arial"/>
              </a:rPr>
              <a:t>09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600" y="889000"/>
            <a:ext cx="10414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B6678"/>
                </a:solidFill>
                <a:latin typeface="Arial"/>
              </a:rPr>
              <a:t>Write path (admin, costs gas) and read path (verifier, gasless).</a:t>
            </a:r>
          </a:p>
        </p:txBody>
      </p:sp>
      <p:sp>
        <p:nvSpPr>
          <p:cNvPr id="8" name="Oval 7"/>
          <p:cNvSpPr/>
          <p:nvPr/>
        </p:nvSpPr>
        <p:spPr>
          <a:xfrm>
            <a:off x="1310640" y="1524000"/>
            <a:ext cx="172720" cy="172720"/>
          </a:xfrm>
          <a:prstGeom prst="ellipse">
            <a:avLst/>
          </a:prstGeom>
          <a:noFill/>
          <a:ln w="2032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397000" y="1696720"/>
            <a:ext cx="0" cy="237490"/>
          </a:xfrm>
          <a:prstGeom prst="line">
            <a:avLst/>
          </a:prstGeom>
          <a:ln w="2032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245870" y="1783080"/>
            <a:ext cx="302260" cy="0"/>
          </a:xfrm>
          <a:prstGeom prst="line">
            <a:avLst/>
          </a:prstGeom>
          <a:ln w="2032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267460" y="1934210"/>
            <a:ext cx="129540" cy="172720"/>
          </a:xfrm>
          <a:prstGeom prst="line">
            <a:avLst/>
          </a:prstGeom>
          <a:ln w="2032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397000" y="1934210"/>
            <a:ext cx="129540" cy="172720"/>
          </a:xfrm>
          <a:prstGeom prst="line">
            <a:avLst/>
          </a:prstGeom>
          <a:ln w="2032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98500" y="2157730"/>
            <a:ext cx="13970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213E"/>
                </a:solidFill>
                <a:latin typeface="Arial"/>
              </a:rPr>
              <a:t>University</a:t>
            </a:r>
          </a:p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213E"/>
                </a:solidFill>
                <a:latin typeface="Arial"/>
              </a:rPr>
              <a:t>Admin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40000" y="1397000"/>
            <a:ext cx="1778000" cy="609600"/>
          </a:xfrm>
          <a:prstGeom prst="roundRect">
            <a:avLst>
              <a:gd name="adj" fmla="val 16666"/>
            </a:avLst>
          </a:prstGeom>
          <a:solidFill>
            <a:srgbClr val="FEF1D6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540000" y="1397000"/>
            <a:ext cx="1778000" cy="63500"/>
          </a:xfrm>
          <a:prstGeom prst="roundRect">
            <a:avLst>
              <a:gd name="adj" fmla="val 4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16200" y="1460500"/>
            <a:ext cx="1625600" cy="546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13E"/>
                </a:solidFill>
                <a:latin typeface="Arial"/>
              </a:rPr>
              <a:t>MetaMask</a:t>
            </a:r>
          </a:p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13E"/>
                </a:solidFill>
                <a:latin typeface="Arial"/>
              </a:rPr>
              <a:t>(sign + gas)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24400" y="1397000"/>
            <a:ext cx="1905000" cy="609600"/>
          </a:xfrm>
          <a:prstGeom prst="roundRect">
            <a:avLst>
              <a:gd name="adj" fmla="val 16666"/>
            </a:avLst>
          </a:prstGeom>
          <a:solidFill>
            <a:srgbClr val="E3ECFD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724400" y="1397000"/>
            <a:ext cx="1905000" cy="63500"/>
          </a:xfrm>
          <a:prstGeom prst="roundRect">
            <a:avLst>
              <a:gd name="adj" fmla="val 4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0600" y="1460500"/>
            <a:ext cx="1752600" cy="546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13E"/>
                </a:solidFill>
                <a:latin typeface="Arial"/>
              </a:rPr>
              <a:t>issueDegree()</a:t>
            </a:r>
          </a:p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13E"/>
                </a:solidFill>
                <a:latin typeface="Arial"/>
              </a:rPr>
              <a:t>state mutation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2032000" y="1701800"/>
            <a:ext cx="508000" cy="50800"/>
          </a:xfrm>
          <a:prstGeom prst="line">
            <a:avLst/>
          </a:prstGeom>
          <a:ln w="19050">
            <a:solidFill>
              <a:srgbClr val="5B667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318000" y="1701800"/>
            <a:ext cx="406400" cy="0"/>
          </a:xfrm>
          <a:prstGeom prst="line">
            <a:avLst/>
          </a:prstGeom>
          <a:ln w="19050">
            <a:solidFill>
              <a:srgbClr val="5B667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112000" y="1905000"/>
            <a:ext cx="2540000" cy="1143000"/>
          </a:xfrm>
          <a:prstGeom prst="roundRect">
            <a:avLst>
              <a:gd name="adj" fmla="val 8888"/>
            </a:avLst>
          </a:prstGeom>
          <a:solidFill>
            <a:srgbClr val="EDE7FC"/>
          </a:solidFill>
          <a:ln w="1778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112000" y="1905000"/>
            <a:ext cx="2540000" cy="63500"/>
          </a:xfrm>
          <a:prstGeom prst="roundRect">
            <a:avLst>
              <a:gd name="adj" fmla="val 4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200" y="1968500"/>
            <a:ext cx="2387600" cy="1079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6213E"/>
                </a:solidFill>
                <a:latin typeface="Arial"/>
              </a:rPr>
              <a:t>AcademicCertificates</a:t>
            </a:r>
          </a:p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6213E"/>
                </a:solidFill>
                <a:latin typeface="Arial"/>
              </a:rPr>
              <a:t>(Solidity — Sepolia EVM)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66000" y="2489200"/>
            <a:ext cx="2032000" cy="431800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66000" y="2489200"/>
            <a:ext cx="2032000" cy="431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Arial"/>
              </a:rPr>
              <a:t>mapping(string=&gt;Cert)</a:t>
            </a:r>
          </a:p>
          <a:p>
            <a:pPr algn="ct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Arial"/>
              </a:rPr>
              <a:t>Immutable ledger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629400" y="1701800"/>
            <a:ext cx="1752600" cy="203200"/>
          </a:xfrm>
          <a:prstGeom prst="line">
            <a:avLst/>
          </a:prstGeom>
          <a:ln w="20320">
            <a:solidFill>
              <a:srgbClr val="2563E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07200" y="1524000"/>
            <a:ext cx="1651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678"/>
                </a:solidFill>
                <a:latin typeface="Arial"/>
              </a:rPr>
              <a:t>signed tx + gas</a:t>
            </a:r>
          </a:p>
        </p:txBody>
      </p:sp>
      <p:sp>
        <p:nvSpPr>
          <p:cNvPr id="29" name="Oval 28"/>
          <p:cNvSpPr/>
          <p:nvPr/>
        </p:nvSpPr>
        <p:spPr>
          <a:xfrm>
            <a:off x="1310640" y="4064000"/>
            <a:ext cx="172720" cy="172720"/>
          </a:xfrm>
          <a:prstGeom prst="ellipse">
            <a:avLst/>
          </a:prstGeom>
          <a:noFill/>
          <a:ln w="2032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1397000" y="4236720"/>
            <a:ext cx="0" cy="237490"/>
          </a:xfrm>
          <a:prstGeom prst="line">
            <a:avLst/>
          </a:prstGeom>
          <a:ln w="20320">
            <a:solidFill>
              <a:srgbClr val="16A3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245870" y="4323080"/>
            <a:ext cx="302260" cy="0"/>
          </a:xfrm>
          <a:prstGeom prst="line">
            <a:avLst/>
          </a:prstGeom>
          <a:ln w="20320">
            <a:solidFill>
              <a:srgbClr val="16A3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1267460" y="4474210"/>
            <a:ext cx="129540" cy="172720"/>
          </a:xfrm>
          <a:prstGeom prst="line">
            <a:avLst/>
          </a:prstGeom>
          <a:ln w="20320">
            <a:solidFill>
              <a:srgbClr val="16A3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397000" y="4474210"/>
            <a:ext cx="129540" cy="172720"/>
          </a:xfrm>
          <a:prstGeom prst="line">
            <a:avLst/>
          </a:prstGeom>
          <a:ln w="20320">
            <a:solidFill>
              <a:srgbClr val="16A3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98500" y="4697730"/>
            <a:ext cx="13970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213E"/>
                </a:solidFill>
                <a:latin typeface="Arial"/>
              </a:rPr>
              <a:t>Verifier /</a:t>
            </a:r>
          </a:p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213E"/>
                </a:solidFill>
                <a:latin typeface="Arial"/>
              </a:rPr>
              <a:t>Recruiter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540000" y="3962400"/>
            <a:ext cx="1905000" cy="609600"/>
          </a:xfrm>
          <a:prstGeom prst="roundRect">
            <a:avLst>
              <a:gd name="adj" fmla="val 16666"/>
            </a:avLst>
          </a:prstGeom>
          <a:solidFill>
            <a:srgbClr val="DCFCE7"/>
          </a:solidFill>
          <a:ln w="1778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540000" y="3962400"/>
            <a:ext cx="1905000" cy="63500"/>
          </a:xfrm>
          <a:prstGeom prst="roundRect">
            <a:avLst>
              <a:gd name="adj" fmla="val 4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16200" y="4025900"/>
            <a:ext cx="1752600" cy="546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13E"/>
                </a:solidFill>
                <a:latin typeface="Arial"/>
              </a:rPr>
              <a:t>Web UI +</a:t>
            </a:r>
          </a:p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13E"/>
                </a:solidFill>
                <a:latin typeface="Arial"/>
              </a:rPr>
              <a:t>Ethers.js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851400" y="3962400"/>
            <a:ext cx="1905000" cy="609600"/>
          </a:xfrm>
          <a:prstGeom prst="roundRect">
            <a:avLst>
              <a:gd name="adj" fmla="val 16666"/>
            </a:avLst>
          </a:prstGeom>
          <a:solidFill>
            <a:srgbClr val="D6F1F2"/>
          </a:solidFill>
          <a:ln w="1778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851400" y="3962400"/>
            <a:ext cx="1905000" cy="63500"/>
          </a:xfrm>
          <a:prstGeom prst="roundRect">
            <a:avLst>
              <a:gd name="adj" fmla="val 40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27600" y="4025900"/>
            <a:ext cx="1752600" cy="546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213E"/>
                </a:solidFill>
                <a:latin typeface="Arial"/>
              </a:rPr>
              <a:t>certificates(regNo)</a:t>
            </a:r>
          </a:p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213E"/>
                </a:solidFill>
                <a:latin typeface="Arial"/>
              </a:rPr>
              <a:t>view call (0 gas)</a:t>
            </a:r>
          </a:p>
        </p:txBody>
      </p:sp>
      <p:cxnSp>
        <p:nvCxnSpPr>
          <p:cNvPr id="41" name="Connector 40"/>
          <p:cNvCxnSpPr/>
          <p:nvPr/>
        </p:nvCxnSpPr>
        <p:spPr>
          <a:xfrm flipV="1">
            <a:off x="2032000" y="4267200"/>
            <a:ext cx="508000" cy="25400"/>
          </a:xfrm>
          <a:prstGeom prst="line">
            <a:avLst/>
          </a:prstGeom>
          <a:ln w="19050">
            <a:solidFill>
              <a:srgbClr val="5B667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4445000" y="4267200"/>
            <a:ext cx="406400" cy="0"/>
          </a:xfrm>
          <a:prstGeom prst="line">
            <a:avLst/>
          </a:prstGeom>
          <a:ln w="19050">
            <a:solidFill>
              <a:srgbClr val="5B667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6756400" y="3048000"/>
            <a:ext cx="1625600" cy="1219200"/>
          </a:xfrm>
          <a:prstGeom prst="line">
            <a:avLst/>
          </a:prstGeom>
          <a:ln w="20320">
            <a:solidFill>
              <a:srgbClr val="0E7C8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858000" y="3810000"/>
            <a:ext cx="1651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678"/>
                </a:solidFill>
                <a:latin typeface="Arial"/>
              </a:rPr>
              <a:t>gasless read</a:t>
            </a:r>
          </a:p>
        </p:txBody>
      </p:sp>
      <p:cxnSp>
        <p:nvCxnSpPr>
          <p:cNvPr id="45" name="Connector 44"/>
          <p:cNvCxnSpPr/>
          <p:nvPr/>
        </p:nvCxnSpPr>
        <p:spPr>
          <a:xfrm flipH="1">
            <a:off x="4572000" y="3048000"/>
            <a:ext cx="3810000" cy="1524000"/>
          </a:xfrm>
          <a:prstGeom prst="line">
            <a:avLst/>
          </a:prstGeom>
          <a:ln w="16510">
            <a:solidFill>
              <a:srgbClr val="16A34A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334000" y="4724400"/>
            <a:ext cx="2540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678"/>
                </a:solidFill>
                <a:latin typeface="Arial"/>
              </a:rPr>
              <a:t>struct result → render success / not found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112000" y="3429000"/>
            <a:ext cx="2540000" cy="889000"/>
          </a:xfrm>
          <a:prstGeom prst="roundRect">
            <a:avLst>
              <a:gd name="adj" fmla="val 11428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64400" y="3556000"/>
            <a:ext cx="22352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C3AED"/>
                </a:solidFill>
                <a:latin typeface="Arial"/>
              </a:rPr>
              <a:t>NETWORK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64400" y="3759200"/>
            <a:ext cx="223520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678"/>
                </a:solidFill>
                <a:latin typeface="Arial"/>
              </a:rPr>
              <a:t>Public Ethereum Sepolia Testnet — EVM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64400" y="3917950"/>
            <a:ext cx="223520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678"/>
                </a:solidFill>
                <a:latin typeface="Arial"/>
              </a:rPr>
              <a:t>execution, globally readable, no central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64400" y="4076700"/>
            <a:ext cx="2235200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678"/>
                </a:solidFill>
                <a:latin typeface="Arial"/>
              </a:rPr>
              <a:t>host.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08000" y="6502400"/>
            <a:ext cx="11176000" cy="0"/>
          </a:xfrm>
          <a:prstGeom prst="line">
            <a:avLst/>
          </a:prstGeom>
          <a:ln w="1016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508000" y="6578600"/>
            <a:ext cx="7620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Arial"/>
              </a:rPr>
              <a:t>UniVerify V2.0  |  B.Tech CSE — Project Review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8000" y="6578600"/>
            <a:ext cx="11176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Arial"/>
              </a:rPr>
              <a:t>Decentralized Academic Certificate Verification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31800"/>
            <a:ext cx="88900" cy="381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6600" y="406400"/>
            <a:ext cx="965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Arial"/>
              </a:rPr>
              <a:t>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3900" y="584200"/>
            <a:ext cx="101600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6213E"/>
                </a:solidFill>
                <a:latin typeface="Arial"/>
              </a:rPr>
              <a:t>Module Diagram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016000"/>
            <a:ext cx="11176000" cy="0"/>
          </a:xfrm>
          <a:prstGeom prst="line">
            <a:avLst/>
          </a:prstGeom>
          <a:ln w="1524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8000" y="4064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B6678"/>
                </a:solidFill>
                <a:latin typeface="Arial"/>
              </a:rPr>
              <a:t>10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600" y="889000"/>
            <a:ext cx="10414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B6678"/>
                </a:solidFill>
                <a:latin typeface="Arial"/>
              </a:rPr>
              <a:t>Hub-and-spoke decomposition of the UniVerify V2.0 system.</a:t>
            </a:r>
          </a:p>
        </p:txBody>
      </p:sp>
      <p:sp>
        <p:nvSpPr>
          <p:cNvPr id="8" name="Oval 7"/>
          <p:cNvSpPr/>
          <p:nvPr/>
        </p:nvSpPr>
        <p:spPr>
          <a:xfrm>
            <a:off x="5080000" y="3086100"/>
            <a:ext cx="2032000" cy="1066800"/>
          </a:xfrm>
          <a:prstGeom prst="ellipse">
            <a:avLst/>
          </a:prstGeom>
          <a:solidFill>
            <a:srgbClr val="E4E9F7"/>
          </a:solidFill>
          <a:ln w="20320">
            <a:solidFill>
              <a:srgbClr val="1F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0" y="3086100"/>
            <a:ext cx="2032000" cy="1066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6213E"/>
                </a:solidFill>
                <a:latin typeface="Arial"/>
              </a:rPr>
              <a:t>UniVerify V2.0</a:t>
            </a:r>
          </a:p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6213E"/>
                </a:solidFill>
                <a:latin typeface="Arial"/>
              </a:rPr>
              <a:t>System Core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1524000"/>
            <a:ext cx="2159000" cy="939800"/>
          </a:xfrm>
          <a:prstGeom prst="roundRect">
            <a:avLst>
              <a:gd name="adj" fmla="val 10810"/>
            </a:avLst>
          </a:prstGeom>
          <a:solidFill>
            <a:srgbClr val="E3ECFD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1524000"/>
            <a:ext cx="2159000" cy="63500"/>
          </a:xfrm>
          <a:prstGeom prst="roundRect">
            <a:avLst>
              <a:gd name="adj" fmla="val 4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4600" y="1638300"/>
            <a:ext cx="1955800" cy="349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13E"/>
                </a:solidFill>
                <a:latin typeface="Arial"/>
              </a:rPr>
              <a:t>Smart Contract</a:t>
            </a:r>
          </a:p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13E"/>
                </a:solidFill>
                <a:latin typeface="Arial"/>
              </a:rPr>
              <a:t>Module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4600" y="2025650"/>
            <a:ext cx="1955800" cy="3746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B6678"/>
                </a:solidFill>
                <a:latin typeface="Arial"/>
              </a:rPr>
              <a:t>struct, mapping,</a:t>
            </a:r>
          </a:p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B6678"/>
                </a:solidFill>
                <a:latin typeface="Arial"/>
              </a:rPr>
              <a:t>RBAC require()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222500" y="1993900"/>
            <a:ext cx="3873500" cy="1625600"/>
          </a:xfrm>
          <a:prstGeom prst="line">
            <a:avLst/>
          </a:prstGeom>
          <a:ln w="1651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826000" y="1333500"/>
            <a:ext cx="2159000" cy="939800"/>
          </a:xfrm>
          <a:prstGeom prst="roundRect">
            <a:avLst>
              <a:gd name="adj" fmla="val 10810"/>
            </a:avLst>
          </a:prstGeom>
          <a:solidFill>
            <a:srgbClr val="FEF1D6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26000" y="1333500"/>
            <a:ext cx="2159000" cy="63500"/>
          </a:xfrm>
          <a:prstGeom prst="roundRect">
            <a:avLst>
              <a:gd name="adj" fmla="val 4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27600" y="1447800"/>
            <a:ext cx="1955800" cy="349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13E"/>
                </a:solidFill>
                <a:latin typeface="Arial"/>
              </a:rPr>
              <a:t>Admin &amp; Issuance</a:t>
            </a:r>
          </a:p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13E"/>
                </a:solidFill>
                <a:latin typeface="Arial"/>
              </a:rPr>
              <a:t>Module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27600" y="1835150"/>
            <a:ext cx="1955800" cy="3746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B6678"/>
                </a:solidFill>
                <a:latin typeface="Arial"/>
              </a:rPr>
              <a:t>issueDegree(),</a:t>
            </a:r>
          </a:p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B6678"/>
                </a:solidFill>
                <a:latin typeface="Arial"/>
              </a:rPr>
              <a:t>MetaMask sign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05500" y="1803400"/>
            <a:ext cx="190500" cy="1816100"/>
          </a:xfrm>
          <a:prstGeom prst="line">
            <a:avLst/>
          </a:prstGeom>
          <a:ln w="16510">
            <a:solidFill>
              <a:srgbClr val="D9770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890000" y="1524000"/>
            <a:ext cx="2159000" cy="939800"/>
          </a:xfrm>
          <a:prstGeom prst="roundRect">
            <a:avLst>
              <a:gd name="adj" fmla="val 10810"/>
            </a:avLst>
          </a:prstGeom>
          <a:solidFill>
            <a:srgbClr val="D6F1F2"/>
          </a:solidFill>
          <a:ln w="1778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890000" y="1524000"/>
            <a:ext cx="2159000" cy="63500"/>
          </a:xfrm>
          <a:prstGeom prst="roundRect">
            <a:avLst>
              <a:gd name="adj" fmla="val 40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91600" y="1638300"/>
            <a:ext cx="1955800" cy="349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13E"/>
                </a:solidFill>
                <a:latin typeface="Arial"/>
              </a:rPr>
              <a:t>Web3 Provider</a:t>
            </a:r>
          </a:p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13E"/>
                </a:solidFill>
                <a:latin typeface="Arial"/>
              </a:rPr>
              <a:t>Module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1600" y="2025650"/>
            <a:ext cx="1955800" cy="3746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B6678"/>
                </a:solidFill>
                <a:latin typeface="Arial"/>
              </a:rPr>
              <a:t>Ethers.js +</a:t>
            </a:r>
          </a:p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B6678"/>
                </a:solidFill>
                <a:latin typeface="Arial"/>
              </a:rPr>
              <a:t>MetaMask bridge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6096000" y="1993900"/>
            <a:ext cx="3873500" cy="1625600"/>
          </a:xfrm>
          <a:prstGeom prst="line">
            <a:avLst/>
          </a:prstGeom>
          <a:ln w="16510">
            <a:solidFill>
              <a:srgbClr val="0E7C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890000" y="4826000"/>
            <a:ext cx="2159000" cy="939800"/>
          </a:xfrm>
          <a:prstGeom prst="roundRect">
            <a:avLst>
              <a:gd name="adj" fmla="val 10810"/>
            </a:avLst>
          </a:prstGeom>
          <a:solidFill>
            <a:srgbClr val="DCFCE7"/>
          </a:solidFill>
          <a:ln w="1778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890000" y="4826000"/>
            <a:ext cx="2159000" cy="63500"/>
          </a:xfrm>
          <a:prstGeom prst="roundRect">
            <a:avLst>
              <a:gd name="adj" fmla="val 4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91600" y="4940300"/>
            <a:ext cx="1955800" cy="349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13E"/>
                </a:solidFill>
                <a:latin typeface="Arial"/>
              </a:rPr>
              <a:t>Verification</a:t>
            </a:r>
          </a:p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13E"/>
                </a:solidFill>
                <a:latin typeface="Arial"/>
              </a:rPr>
              <a:t>Module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91600" y="5327650"/>
            <a:ext cx="1955800" cy="3746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B6678"/>
                </a:solidFill>
                <a:latin typeface="Arial"/>
              </a:rPr>
              <a:t>view call +</a:t>
            </a:r>
          </a:p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B6678"/>
                </a:solidFill>
                <a:latin typeface="Arial"/>
              </a:rPr>
              <a:t>safety filter</a:t>
            </a:r>
          </a:p>
        </p:txBody>
      </p:sp>
      <p:cxnSp>
        <p:nvCxnSpPr>
          <p:cNvPr id="29" name="Connector 28"/>
          <p:cNvCxnSpPr/>
          <p:nvPr/>
        </p:nvCxnSpPr>
        <p:spPr>
          <a:xfrm flipH="1" flipV="1">
            <a:off x="6096000" y="3619500"/>
            <a:ext cx="3873500" cy="1676400"/>
          </a:xfrm>
          <a:prstGeom prst="line">
            <a:avLst/>
          </a:prstGeom>
          <a:ln w="16510">
            <a:solidFill>
              <a:srgbClr val="16A3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4826000" y="5334000"/>
            <a:ext cx="2159000" cy="939800"/>
          </a:xfrm>
          <a:prstGeom prst="roundRect">
            <a:avLst>
              <a:gd name="adj" fmla="val 10810"/>
            </a:avLst>
          </a:prstGeom>
          <a:solidFill>
            <a:srgbClr val="EDE7FC"/>
          </a:solidFill>
          <a:ln w="1778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826000" y="5334000"/>
            <a:ext cx="2159000" cy="63500"/>
          </a:xfrm>
          <a:prstGeom prst="roundRect">
            <a:avLst>
              <a:gd name="adj" fmla="val 4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27600" y="5448300"/>
            <a:ext cx="1955800" cy="349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13E"/>
                </a:solidFill>
                <a:latin typeface="Arial"/>
              </a:rPr>
              <a:t>UI / Result</a:t>
            </a:r>
          </a:p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13E"/>
                </a:solidFill>
                <a:latin typeface="Arial"/>
              </a:rPr>
              <a:t>Module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27600" y="5835650"/>
            <a:ext cx="1955800" cy="3746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B6678"/>
                </a:solidFill>
                <a:latin typeface="Arial"/>
              </a:rPr>
              <a:t>#regInput,</a:t>
            </a:r>
          </a:p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B6678"/>
                </a:solidFill>
                <a:latin typeface="Arial"/>
              </a:rPr>
              <a:t>#result states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5905500" y="3619500"/>
            <a:ext cx="190500" cy="2184400"/>
          </a:xfrm>
          <a:prstGeom prst="line">
            <a:avLst/>
          </a:prstGeom>
          <a:ln w="16510">
            <a:solidFill>
              <a:srgbClr val="7C3A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1143000" y="4826000"/>
            <a:ext cx="2159000" cy="939800"/>
          </a:xfrm>
          <a:prstGeom prst="roundRect">
            <a:avLst>
              <a:gd name="adj" fmla="val 10810"/>
            </a:avLst>
          </a:prstGeom>
          <a:solidFill>
            <a:srgbClr val="EEF1F5"/>
          </a:solidFill>
          <a:ln w="1778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143000" y="4826000"/>
            <a:ext cx="2159000" cy="63500"/>
          </a:xfrm>
          <a:prstGeom prst="roundRect">
            <a:avLst>
              <a:gd name="adj" fmla="val 40000"/>
            </a:avLst>
          </a:prstGeom>
          <a:solidFill>
            <a:srgbClr val="5B6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4600" y="4940300"/>
            <a:ext cx="1955800" cy="349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13E"/>
                </a:solidFill>
                <a:latin typeface="Arial"/>
              </a:rPr>
              <a:t>AI Agent Module</a:t>
            </a:r>
          </a:p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13E"/>
                </a:solidFill>
                <a:latin typeface="Arial"/>
              </a:rPr>
              <a:t>(Phase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44600" y="5327650"/>
            <a:ext cx="1955800" cy="3746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B6678"/>
                </a:solidFill>
                <a:latin typeface="Arial"/>
              </a:rPr>
              <a:t>NLP + SHA-256/</a:t>
            </a:r>
          </a:p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B6678"/>
                </a:solidFill>
                <a:latin typeface="Arial"/>
              </a:rPr>
              <a:t>IPFS, auto-sign</a:t>
            </a:r>
          </a:p>
        </p:txBody>
      </p:sp>
      <p:cxnSp>
        <p:nvCxnSpPr>
          <p:cNvPr id="39" name="Connector 38"/>
          <p:cNvCxnSpPr/>
          <p:nvPr/>
        </p:nvCxnSpPr>
        <p:spPr>
          <a:xfrm flipV="1">
            <a:off x="2222500" y="3619500"/>
            <a:ext cx="3873500" cy="1676400"/>
          </a:xfrm>
          <a:prstGeom prst="line">
            <a:avLst/>
          </a:prstGeom>
          <a:ln w="16510">
            <a:solidFill>
              <a:srgbClr val="5B66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08000" y="6502400"/>
            <a:ext cx="11176000" cy="0"/>
          </a:xfrm>
          <a:prstGeom prst="line">
            <a:avLst/>
          </a:prstGeom>
          <a:ln w="1016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08000" y="6578600"/>
            <a:ext cx="7620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Arial"/>
              </a:rPr>
              <a:t>UniVerify V2.0  |  B.Tech CSE — Project Review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8000" y="6578600"/>
            <a:ext cx="11176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Arial"/>
              </a:rPr>
              <a:t>Decentralized Academic Certificate Verification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31800"/>
            <a:ext cx="88900" cy="381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6600" y="406400"/>
            <a:ext cx="965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Arial"/>
              </a:rPr>
              <a:t>UML — 1/5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3900" y="584200"/>
            <a:ext cx="101600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6213E"/>
                </a:solidFill>
                <a:latin typeface="Arial"/>
              </a:rPr>
              <a:t>Use Case Diagram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016000"/>
            <a:ext cx="11176000" cy="0"/>
          </a:xfrm>
          <a:prstGeom prst="line">
            <a:avLst/>
          </a:prstGeom>
          <a:ln w="1524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8000" y="4064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B6678"/>
                </a:solidFill>
                <a:latin typeface="Arial"/>
              </a:rPr>
              <a:t>11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600" y="889000"/>
            <a:ext cx="10414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B6678"/>
                </a:solidFill>
                <a:latin typeface="Arial"/>
              </a:rPr>
              <a:t>Actors and their interactions with the verification system.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56000" y="1219200"/>
            <a:ext cx="5080000" cy="4826000"/>
          </a:xfrm>
          <a:prstGeom prst="roundRect">
            <a:avLst>
              <a:gd name="adj" fmla="val 2631"/>
            </a:avLst>
          </a:prstGeom>
          <a:noFill/>
          <a:ln w="17780">
            <a:solidFill>
              <a:srgbClr val="1F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13208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8A"/>
                </a:solidFill>
                <a:latin typeface="Arial"/>
              </a:rPr>
              <a:t>UniVerify V2.0</a:t>
            </a:r>
          </a:p>
        </p:txBody>
      </p:sp>
      <p:sp>
        <p:nvSpPr>
          <p:cNvPr id="10" name="Oval 9"/>
          <p:cNvSpPr/>
          <p:nvPr/>
        </p:nvSpPr>
        <p:spPr>
          <a:xfrm>
            <a:off x="1564640" y="2540000"/>
            <a:ext cx="172720" cy="172720"/>
          </a:xfrm>
          <a:prstGeom prst="ellipse">
            <a:avLst/>
          </a:prstGeom>
          <a:noFill/>
          <a:ln w="2032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1651000" y="2712720"/>
            <a:ext cx="0" cy="237490"/>
          </a:xfrm>
          <a:prstGeom prst="line">
            <a:avLst/>
          </a:prstGeom>
          <a:ln w="2032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499870" y="2799080"/>
            <a:ext cx="302260" cy="0"/>
          </a:xfrm>
          <a:prstGeom prst="line">
            <a:avLst/>
          </a:prstGeom>
          <a:ln w="2032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1521460" y="2950210"/>
            <a:ext cx="129540" cy="172720"/>
          </a:xfrm>
          <a:prstGeom prst="line">
            <a:avLst/>
          </a:prstGeom>
          <a:ln w="2032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651000" y="2950210"/>
            <a:ext cx="129540" cy="172720"/>
          </a:xfrm>
          <a:prstGeom prst="line">
            <a:avLst/>
          </a:prstGeom>
          <a:ln w="2032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52500" y="3173730"/>
            <a:ext cx="13970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213E"/>
                </a:solidFill>
                <a:latin typeface="Arial"/>
              </a:rPr>
              <a:t>University</a:t>
            </a:r>
          </a:p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213E"/>
                </a:solidFill>
                <a:latin typeface="Arial"/>
              </a:rPr>
              <a:t>Admin</a:t>
            </a:r>
          </a:p>
        </p:txBody>
      </p:sp>
      <p:sp>
        <p:nvSpPr>
          <p:cNvPr id="16" name="Oval 15"/>
          <p:cNvSpPr/>
          <p:nvPr/>
        </p:nvSpPr>
        <p:spPr>
          <a:xfrm>
            <a:off x="10454640" y="3175000"/>
            <a:ext cx="172720" cy="172720"/>
          </a:xfrm>
          <a:prstGeom prst="ellipse">
            <a:avLst/>
          </a:prstGeom>
          <a:noFill/>
          <a:ln w="2032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41000" y="3347720"/>
            <a:ext cx="0" cy="237490"/>
          </a:xfrm>
          <a:prstGeom prst="line">
            <a:avLst/>
          </a:prstGeom>
          <a:ln w="20320">
            <a:solidFill>
              <a:srgbClr val="16A3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389870" y="3434080"/>
            <a:ext cx="302260" cy="0"/>
          </a:xfrm>
          <a:prstGeom prst="line">
            <a:avLst/>
          </a:prstGeom>
          <a:ln w="20320">
            <a:solidFill>
              <a:srgbClr val="16A3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10411460" y="3585210"/>
            <a:ext cx="129540" cy="172720"/>
          </a:xfrm>
          <a:prstGeom prst="line">
            <a:avLst/>
          </a:prstGeom>
          <a:ln w="20320">
            <a:solidFill>
              <a:srgbClr val="16A3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541000" y="3585210"/>
            <a:ext cx="129540" cy="172720"/>
          </a:xfrm>
          <a:prstGeom prst="line">
            <a:avLst/>
          </a:prstGeom>
          <a:ln w="20320">
            <a:solidFill>
              <a:srgbClr val="16A3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842500" y="3808730"/>
            <a:ext cx="13970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213E"/>
                </a:solidFill>
                <a:latin typeface="Arial"/>
              </a:rPr>
              <a:t>Verifier /</a:t>
            </a:r>
          </a:p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213E"/>
                </a:solidFill>
                <a:latin typeface="Arial"/>
              </a:rPr>
              <a:t>Recruiter</a:t>
            </a:r>
          </a:p>
        </p:txBody>
      </p:sp>
      <p:sp>
        <p:nvSpPr>
          <p:cNvPr id="22" name="Oval 21"/>
          <p:cNvSpPr/>
          <p:nvPr/>
        </p:nvSpPr>
        <p:spPr>
          <a:xfrm>
            <a:off x="4191000" y="1905000"/>
            <a:ext cx="1905000" cy="508000"/>
          </a:xfrm>
          <a:prstGeom prst="ellipse">
            <a:avLst/>
          </a:prstGeom>
          <a:solidFill>
            <a:srgbClr val="E3ECFD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91000" y="1905000"/>
            <a:ext cx="19050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Arial"/>
              </a:rPr>
              <a:t>Deploy Contract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2095500" y="2159000"/>
            <a:ext cx="2095500" cy="571500"/>
          </a:xfrm>
          <a:prstGeom prst="line">
            <a:avLst/>
          </a:prstGeom>
          <a:ln w="15240">
            <a:solidFill>
              <a:srgbClr val="5B66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4191000" y="2730500"/>
            <a:ext cx="1905000" cy="508000"/>
          </a:xfrm>
          <a:prstGeom prst="ellipse">
            <a:avLst/>
          </a:prstGeom>
          <a:solidFill>
            <a:srgbClr val="E3ECFD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91000" y="2730500"/>
            <a:ext cx="19050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Arial"/>
              </a:rPr>
              <a:t>Connect Wallet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95500" y="2730500"/>
            <a:ext cx="2095500" cy="254000"/>
          </a:xfrm>
          <a:prstGeom prst="line">
            <a:avLst/>
          </a:prstGeom>
          <a:ln w="15240">
            <a:solidFill>
              <a:srgbClr val="5B66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4191000" y="3556000"/>
            <a:ext cx="1905000" cy="508000"/>
          </a:xfrm>
          <a:prstGeom prst="ellipse">
            <a:avLst/>
          </a:prstGeom>
          <a:solidFill>
            <a:srgbClr val="E3ECFD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91000" y="3556000"/>
            <a:ext cx="19050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Arial"/>
              </a:rPr>
              <a:t>Issue Degree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095500" y="2730500"/>
            <a:ext cx="2095500" cy="1079500"/>
          </a:xfrm>
          <a:prstGeom prst="line">
            <a:avLst/>
          </a:prstGeom>
          <a:ln w="15240">
            <a:solidFill>
              <a:srgbClr val="5B66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6223000" y="4064000"/>
            <a:ext cx="1905000" cy="50800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23000" y="4064000"/>
            <a:ext cx="19050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Arial"/>
              </a:rPr>
              <a:t>Enter Reg. No.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8128000" y="3365500"/>
            <a:ext cx="1968500" cy="952500"/>
          </a:xfrm>
          <a:prstGeom prst="line">
            <a:avLst/>
          </a:prstGeom>
          <a:ln w="15240">
            <a:solidFill>
              <a:srgbClr val="5B66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6223000" y="4889500"/>
            <a:ext cx="1905000" cy="50800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23000" y="4889500"/>
            <a:ext cx="19050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Arial"/>
              </a:rPr>
              <a:t>Verify Certificate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8128000" y="3365500"/>
            <a:ext cx="1968500" cy="1778000"/>
          </a:xfrm>
          <a:prstGeom prst="line">
            <a:avLst/>
          </a:prstGeom>
          <a:ln w="15240">
            <a:solidFill>
              <a:srgbClr val="5B66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6223000" y="5715000"/>
            <a:ext cx="1905000" cy="50800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23000" y="5715000"/>
            <a:ext cx="19050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Arial"/>
              </a:rPr>
              <a:t>View Result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8128000" y="3365500"/>
            <a:ext cx="1968500" cy="2603500"/>
          </a:xfrm>
          <a:prstGeom prst="line">
            <a:avLst/>
          </a:prstGeom>
          <a:ln w="15240">
            <a:solidFill>
              <a:srgbClr val="5B66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5143500" y="4572000"/>
            <a:ext cx="0" cy="571500"/>
          </a:xfrm>
          <a:prstGeom prst="line">
            <a:avLst/>
          </a:prstGeom>
          <a:ln w="13970">
            <a:solidFill>
              <a:srgbClr val="5B6678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4572000" y="4356100"/>
            <a:ext cx="1524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5B6678"/>
                </a:solidFill>
                <a:latin typeface="Arial"/>
              </a:rPr>
              <a:t>«include»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08000" y="6502400"/>
            <a:ext cx="11176000" cy="0"/>
          </a:xfrm>
          <a:prstGeom prst="line">
            <a:avLst/>
          </a:prstGeom>
          <a:ln w="1016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08000" y="6578600"/>
            <a:ext cx="7620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Arial"/>
              </a:rPr>
              <a:t>UniVerify V2.0  |  B.Tech CSE — Project Review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8000" y="6578600"/>
            <a:ext cx="11176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Arial"/>
              </a:rPr>
              <a:t>Decentralized Academic Certificate Verification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31800"/>
            <a:ext cx="88900" cy="381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6600" y="406400"/>
            <a:ext cx="965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Arial"/>
              </a:rPr>
              <a:t>UML — 2/5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3900" y="584200"/>
            <a:ext cx="101600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6213E"/>
                </a:solidFill>
                <a:latin typeface="Arial"/>
              </a:rPr>
              <a:t>Class Diagram (Model Classes)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016000"/>
            <a:ext cx="11176000" cy="0"/>
          </a:xfrm>
          <a:prstGeom prst="line">
            <a:avLst/>
          </a:prstGeom>
          <a:ln w="1524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8000" y="4064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B6678"/>
                </a:solidFill>
                <a:latin typeface="Arial"/>
              </a:rPr>
              <a:t>12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600" y="889000"/>
            <a:ext cx="10414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B6678"/>
                </a:solidFill>
                <a:latin typeface="Arial"/>
              </a:rPr>
              <a:t>Core domain model: contract, record struct, frontend and Phase-2 agent.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889000" y="1524000"/>
            <a:ext cx="2794000" cy="1562100"/>
          </a:xfrm>
          <a:prstGeom prst="rect">
            <a:avLst/>
          </a:prstGeom>
          <a:solidFill>
            <a:srgbClr val="FFFFFF"/>
          </a:solidFill>
          <a:ln w="1651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9000" y="1524000"/>
            <a:ext cx="2794000" cy="25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9000" y="1562100"/>
            <a:ext cx="279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AcademicCertificates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89000" y="1778000"/>
            <a:ext cx="2794000" cy="0"/>
          </a:xfrm>
          <a:prstGeom prst="line">
            <a:avLst/>
          </a:prstGeom>
          <a:ln w="127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65200" y="1828800"/>
            <a:ext cx="2667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Arial"/>
              </a:rPr>
              <a:t>+ certificates: mapping&lt;string,Certificate&gt;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5200" y="1993900"/>
            <a:ext cx="2667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Arial"/>
              </a:rPr>
              <a:t>+ totalIssued: uint256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159000"/>
            <a:ext cx="2667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Arial"/>
              </a:rPr>
              <a:t>+ university: address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89000" y="2349500"/>
            <a:ext cx="2794000" cy="0"/>
          </a:xfrm>
          <a:prstGeom prst="line">
            <a:avLst/>
          </a:prstGeom>
          <a:ln w="127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65200" y="2400300"/>
            <a:ext cx="2667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Arial"/>
              </a:rPr>
              <a:t>+ constructor()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565400"/>
            <a:ext cx="2667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Arial"/>
              </a:rPr>
              <a:t>+ issueDegree(regNo,name,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5200" y="2730500"/>
            <a:ext cx="2667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Arial"/>
              </a:rPr>
              <a:t>      course,hash): void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200" y="2895600"/>
            <a:ext cx="2667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Arial"/>
              </a:rPr>
              <a:t># require(msg.sender==university)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1905000"/>
            <a:ext cx="2540000" cy="1066800"/>
          </a:xfrm>
          <a:prstGeom prst="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0" y="1905000"/>
            <a:ext cx="2540000" cy="254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1943100"/>
            <a:ext cx="254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Certificate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572000" y="2159000"/>
            <a:ext cx="2540000" cy="0"/>
          </a:xfrm>
          <a:prstGeom prst="line">
            <a:avLst/>
          </a:prstGeom>
          <a:ln w="12700">
            <a:solidFill>
              <a:srgbClr val="7C3A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648200" y="2209800"/>
            <a:ext cx="2413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Arial"/>
              </a:rPr>
              <a:t>+ studentName: string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48200" y="2374900"/>
            <a:ext cx="2413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Arial"/>
              </a:rPr>
              <a:t>+ courseName: string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48200" y="2540000"/>
            <a:ext cx="2413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Arial"/>
              </a:rPr>
              <a:t>+ ipfsHash: string  // mock (P1)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72000" y="2730500"/>
            <a:ext cx="2540000" cy="0"/>
          </a:xfrm>
          <a:prstGeom prst="line">
            <a:avLst/>
          </a:prstGeom>
          <a:ln w="12700">
            <a:solidFill>
              <a:srgbClr val="7C3A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648200" y="2781300"/>
            <a:ext cx="2413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Arial"/>
              </a:rPr>
              <a:t>+ isEmpty(): bool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8000" y="1473200"/>
            <a:ext cx="3175000" cy="1397000"/>
          </a:xfrm>
          <a:prstGeom prst="rect">
            <a:avLst/>
          </a:prstGeom>
          <a:solidFill>
            <a:srgbClr val="FFFFFF"/>
          </a:solidFill>
          <a:ln w="1651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28000" y="1473200"/>
            <a:ext cx="3175000" cy="254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28000" y="1511300"/>
            <a:ext cx="317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VerificationPortal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128000" y="1727200"/>
            <a:ext cx="3175000" cy="0"/>
          </a:xfrm>
          <a:prstGeom prst="line">
            <a:avLst/>
          </a:prstGeom>
          <a:ln w="12700">
            <a:solidFill>
              <a:srgbClr val="16A3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204200" y="1778000"/>
            <a:ext cx="3048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Arial"/>
              </a:rPr>
              <a:t>- provider: Web3Provider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04200" y="1943100"/>
            <a:ext cx="3048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Arial"/>
              </a:rPr>
              <a:t>- contract: Contract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04200" y="2108200"/>
            <a:ext cx="3048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Arial"/>
              </a:rPr>
              <a:t>- result: DOMElement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128000" y="2298700"/>
            <a:ext cx="3175000" cy="0"/>
          </a:xfrm>
          <a:prstGeom prst="line">
            <a:avLst/>
          </a:prstGeom>
          <a:ln w="12700">
            <a:solidFill>
              <a:srgbClr val="16A3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204200" y="2349500"/>
            <a:ext cx="3048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Arial"/>
              </a:rPr>
              <a:t>+ connectWallet(): void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04200" y="2514600"/>
            <a:ext cx="3048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Arial"/>
              </a:rPr>
              <a:t>+ verifyCertificate(regNo): void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04200" y="2679700"/>
            <a:ext cx="3048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Arial"/>
              </a:rPr>
              <a:t>+ renderResult(data): void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28000" y="3810000"/>
            <a:ext cx="3175000" cy="1397000"/>
          </a:xfrm>
          <a:prstGeom prst="rect">
            <a:avLst/>
          </a:prstGeom>
          <a:solidFill>
            <a:srgbClr val="FFFFFF"/>
          </a:solidFill>
          <a:ln w="1651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128000" y="3810000"/>
            <a:ext cx="3175000" cy="254000"/>
          </a:xfrm>
          <a:prstGeom prst="rect">
            <a:avLst/>
          </a:prstGeom>
          <a:solidFill>
            <a:srgbClr val="5B6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28000" y="3848100"/>
            <a:ext cx="317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AIAgent  (Phase 2)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128000" y="4064000"/>
            <a:ext cx="3175000" cy="0"/>
          </a:xfrm>
          <a:prstGeom prst="line">
            <a:avLst/>
          </a:prstGeom>
          <a:ln w="12700">
            <a:solidFill>
              <a:srgbClr val="5B66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204200" y="4114800"/>
            <a:ext cx="3048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Arial"/>
              </a:rPr>
              <a:t>- wallet: SecureWallet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04200" y="4279900"/>
            <a:ext cx="3048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Arial"/>
              </a:rPr>
              <a:t>- web3: Web3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8128000" y="4470400"/>
            <a:ext cx="3175000" cy="0"/>
          </a:xfrm>
          <a:prstGeom prst="line">
            <a:avLst/>
          </a:prstGeom>
          <a:ln w="12700">
            <a:solidFill>
              <a:srgbClr val="5B66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204200" y="4521200"/>
            <a:ext cx="3048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Arial"/>
              </a:rPr>
              <a:t>+ ingestLogs(): void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04200" y="4686300"/>
            <a:ext cx="3048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Arial"/>
              </a:rPr>
              <a:t>+ normalize(): void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04200" y="4851400"/>
            <a:ext cx="3048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Arial"/>
              </a:rPr>
              <a:t>+ computeHash(): bytes32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04200" y="5016500"/>
            <a:ext cx="3048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Arial"/>
              </a:rPr>
              <a:t>+ signAndBroadcast(): void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3683000" y="2222500"/>
            <a:ext cx="889000" cy="127000"/>
          </a:xfrm>
          <a:prstGeom prst="line">
            <a:avLst/>
          </a:prstGeom>
          <a:ln w="16510">
            <a:solidFill>
              <a:srgbClr val="1621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Diamond 51"/>
          <p:cNvSpPr/>
          <p:nvPr/>
        </p:nvSpPr>
        <p:spPr>
          <a:xfrm>
            <a:off x="3581400" y="2159000"/>
            <a:ext cx="177800" cy="127000"/>
          </a:xfrm>
          <a:prstGeom prst="diamond">
            <a:avLst/>
          </a:prstGeom>
          <a:solidFill>
            <a:srgbClr val="16213E"/>
          </a:solidFill>
          <a:ln w="12700">
            <a:solidFill>
              <a:srgbClr val="1621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10000" y="2006600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Arial"/>
              </a:rPr>
              <a:t>1      *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810000" y="2387600"/>
            <a:ext cx="1143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5B6678"/>
                </a:solidFill>
                <a:latin typeface="Arial"/>
              </a:rPr>
              <a:t>stores</a:t>
            </a:r>
          </a:p>
        </p:txBody>
      </p:sp>
      <p:cxnSp>
        <p:nvCxnSpPr>
          <p:cNvPr id="55" name="Connector 54"/>
          <p:cNvCxnSpPr/>
          <p:nvPr/>
        </p:nvCxnSpPr>
        <p:spPr>
          <a:xfrm flipH="1" flipV="1">
            <a:off x="3683000" y="2032000"/>
            <a:ext cx="4445000" cy="190500"/>
          </a:xfrm>
          <a:prstGeom prst="line">
            <a:avLst/>
          </a:prstGeom>
          <a:ln w="15240">
            <a:solidFill>
              <a:srgbClr val="5B6678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461000" y="190500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5B6678"/>
                </a:solidFill>
                <a:latin typeface="Arial"/>
              </a:rPr>
              <a:t>«uses» view call</a:t>
            </a:r>
          </a:p>
        </p:txBody>
      </p:sp>
      <p:cxnSp>
        <p:nvCxnSpPr>
          <p:cNvPr id="57" name="Connector 56"/>
          <p:cNvCxnSpPr/>
          <p:nvPr/>
        </p:nvCxnSpPr>
        <p:spPr>
          <a:xfrm flipH="1" flipV="1">
            <a:off x="3683000" y="2667000"/>
            <a:ext cx="4445000" cy="1651000"/>
          </a:xfrm>
          <a:prstGeom prst="line">
            <a:avLst/>
          </a:prstGeom>
          <a:ln w="15240">
            <a:solidFill>
              <a:srgbClr val="5B6678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5334000" y="3810000"/>
            <a:ext cx="2032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5B6678"/>
                </a:solidFill>
                <a:latin typeface="Arial"/>
              </a:rPr>
              <a:t>«writes» issueDegree()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08000" y="6502400"/>
            <a:ext cx="11176000" cy="0"/>
          </a:xfrm>
          <a:prstGeom prst="line">
            <a:avLst/>
          </a:prstGeom>
          <a:ln w="1016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08000" y="6578600"/>
            <a:ext cx="7620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Arial"/>
              </a:rPr>
              <a:t>UniVerify V2.0  |  B.Tech CSE — Project Review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8000" y="6578600"/>
            <a:ext cx="11176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Arial"/>
              </a:rPr>
              <a:t>Decentralized Academic Certificate Verification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31800"/>
            <a:ext cx="88900" cy="381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6600" y="406400"/>
            <a:ext cx="965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Arial"/>
              </a:rPr>
              <a:t>UML — 3/5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3900" y="584200"/>
            <a:ext cx="101600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6213E"/>
                </a:solidFill>
                <a:latin typeface="Arial"/>
              </a:rPr>
              <a:t>Sequence Diagram (Verification)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016000"/>
            <a:ext cx="11176000" cy="0"/>
          </a:xfrm>
          <a:prstGeom prst="line">
            <a:avLst/>
          </a:prstGeom>
          <a:ln w="1524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8000" y="4064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B6678"/>
                </a:solidFill>
                <a:latin typeface="Arial"/>
              </a:rPr>
              <a:t>13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600" y="889000"/>
            <a:ext cx="10414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B6678"/>
                </a:solidFill>
                <a:latin typeface="Arial"/>
              </a:rPr>
              <a:t>Gasless read-path message flow between client and contract.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" y="1270000"/>
            <a:ext cx="1905000" cy="482600"/>
          </a:xfrm>
          <a:prstGeom prst="roundRect">
            <a:avLst>
              <a:gd name="adj" fmla="val 15789"/>
            </a:avLst>
          </a:prstGeom>
          <a:solidFill>
            <a:srgbClr val="DCFCE7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1500" y="1270000"/>
            <a:ext cx="19050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Arial"/>
              </a:rPr>
              <a:t>Verifier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524000" y="1752600"/>
            <a:ext cx="0" cy="4216400"/>
          </a:xfrm>
          <a:prstGeom prst="line">
            <a:avLst/>
          </a:prstGeom>
          <a:ln w="12700">
            <a:solidFill>
              <a:srgbClr val="CBD5E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111500" y="1270000"/>
            <a:ext cx="1905000" cy="482600"/>
          </a:xfrm>
          <a:prstGeom prst="roundRect">
            <a:avLst>
              <a:gd name="adj" fmla="val 15789"/>
            </a:avLst>
          </a:prstGeom>
          <a:solidFill>
            <a:srgbClr val="E3ECFD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11500" y="1270000"/>
            <a:ext cx="19050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Arial"/>
              </a:rPr>
              <a:t>VerificationPortal</a:t>
            </a:r>
          </a:p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Arial"/>
              </a:rPr>
              <a:t>(Ethers.js)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064000" y="1752600"/>
            <a:ext cx="0" cy="4216400"/>
          </a:xfrm>
          <a:prstGeom prst="line">
            <a:avLst/>
          </a:prstGeom>
          <a:ln w="12700">
            <a:solidFill>
              <a:srgbClr val="CBD5E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905500" y="1270000"/>
            <a:ext cx="1905000" cy="482600"/>
          </a:xfrm>
          <a:prstGeom prst="roundRect">
            <a:avLst>
              <a:gd name="adj" fmla="val 15789"/>
            </a:avLst>
          </a:prstGeom>
          <a:solidFill>
            <a:srgbClr val="FEF1D6"/>
          </a:solidFill>
          <a:ln w="1524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05500" y="1270000"/>
            <a:ext cx="19050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Arial"/>
              </a:rPr>
              <a:t>MetaMask</a:t>
            </a:r>
          </a:p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Arial"/>
              </a:rPr>
              <a:t>Provider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0" y="1752600"/>
            <a:ext cx="0" cy="4216400"/>
          </a:xfrm>
          <a:prstGeom prst="line">
            <a:avLst/>
          </a:prstGeom>
          <a:ln w="12700">
            <a:solidFill>
              <a:srgbClr val="CBD5E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699500" y="1270000"/>
            <a:ext cx="1905000" cy="482600"/>
          </a:xfrm>
          <a:prstGeom prst="roundRect">
            <a:avLst>
              <a:gd name="adj" fmla="val 15789"/>
            </a:avLst>
          </a:prstGeom>
          <a:solidFill>
            <a:srgbClr val="EDE7FC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99500" y="1270000"/>
            <a:ext cx="19050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Arial"/>
              </a:rPr>
              <a:t>AcademicCertificates</a:t>
            </a:r>
          </a:p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Arial"/>
              </a:rPr>
              <a:t>(Sepolia)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652000" y="1752600"/>
            <a:ext cx="0" cy="4216400"/>
          </a:xfrm>
          <a:prstGeom prst="line">
            <a:avLst/>
          </a:prstGeom>
          <a:ln w="12700">
            <a:solidFill>
              <a:srgbClr val="CBD5E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524000" y="2159000"/>
            <a:ext cx="2540000" cy="0"/>
          </a:xfrm>
          <a:prstGeom prst="line">
            <a:avLst/>
          </a:prstGeom>
          <a:ln w="17780">
            <a:solidFill>
              <a:srgbClr val="16A3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600200" y="1993900"/>
            <a:ext cx="23876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678"/>
                </a:solidFill>
                <a:latin typeface="Arial"/>
              </a:rPr>
              <a:t>1: enter regNo + click verify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064000" y="2603500"/>
            <a:ext cx="2794000" cy="0"/>
          </a:xfrm>
          <a:prstGeom prst="line">
            <a:avLst/>
          </a:prstGeom>
          <a:ln w="17780">
            <a:solidFill>
              <a:srgbClr val="2563E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140200" y="2438400"/>
            <a:ext cx="26416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678"/>
                </a:solidFill>
                <a:latin typeface="Arial"/>
              </a:rPr>
              <a:t>2: Web3Provider(window.ethereum)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4064000" y="2984500"/>
            <a:ext cx="2794000" cy="0"/>
          </a:xfrm>
          <a:prstGeom prst="line">
            <a:avLst/>
          </a:prstGeom>
          <a:ln w="17780">
            <a:solidFill>
              <a:srgbClr val="5B6678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140200" y="2819400"/>
            <a:ext cx="26416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678"/>
                </a:solidFill>
                <a:latin typeface="Arial"/>
              </a:rPr>
              <a:t>provider ready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064000" y="3492500"/>
            <a:ext cx="5588000" cy="0"/>
          </a:xfrm>
          <a:prstGeom prst="line">
            <a:avLst/>
          </a:prstGeom>
          <a:ln w="17780">
            <a:solidFill>
              <a:srgbClr val="2563E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140200" y="3327400"/>
            <a:ext cx="54356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678"/>
                </a:solidFill>
                <a:latin typeface="Arial"/>
              </a:rPr>
              <a:t>3: certificates(regNo)  [view, 0 gas]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4064000" y="3937000"/>
            <a:ext cx="5588000" cy="0"/>
          </a:xfrm>
          <a:prstGeom prst="line">
            <a:avLst/>
          </a:prstGeom>
          <a:ln w="17780">
            <a:solidFill>
              <a:srgbClr val="5B6678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140200" y="3771900"/>
            <a:ext cx="54356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678"/>
                </a:solidFill>
                <a:latin typeface="Arial"/>
              </a:rPr>
              <a:t>4: Certificate struct / zero-state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064000" y="4381500"/>
            <a:ext cx="889000" cy="0"/>
          </a:xfrm>
          <a:prstGeom prst="line">
            <a:avLst/>
          </a:prstGeom>
          <a:ln w="16510">
            <a:solidFill>
              <a:srgbClr val="1621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953000" y="4381500"/>
            <a:ext cx="0" cy="254000"/>
          </a:xfrm>
          <a:prstGeom prst="line">
            <a:avLst/>
          </a:prstGeom>
          <a:ln w="16510">
            <a:solidFill>
              <a:srgbClr val="1621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4064000" y="4635500"/>
            <a:ext cx="889000" cy="0"/>
          </a:xfrm>
          <a:prstGeom prst="line">
            <a:avLst/>
          </a:prstGeom>
          <a:ln w="16510">
            <a:solidFill>
              <a:srgbClr val="1621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165600" y="4229100"/>
            <a:ext cx="2540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678"/>
                </a:solidFill>
                <a:latin typeface="Arial"/>
              </a:rPr>
              <a:t>5: validate studentName != “”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1524000" y="5080000"/>
            <a:ext cx="2540000" cy="0"/>
          </a:xfrm>
          <a:prstGeom prst="line">
            <a:avLst/>
          </a:prstGeom>
          <a:ln w="17780">
            <a:solidFill>
              <a:srgbClr val="16A3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1600200" y="4914900"/>
            <a:ext cx="23876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678"/>
                </a:solidFill>
                <a:latin typeface="Arial"/>
              </a:rPr>
              <a:t>6: render success / Record Not Found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08000" y="6502400"/>
            <a:ext cx="11176000" cy="0"/>
          </a:xfrm>
          <a:prstGeom prst="line">
            <a:avLst/>
          </a:prstGeom>
          <a:ln w="1016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08000" y="6578600"/>
            <a:ext cx="7620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Arial"/>
              </a:rPr>
              <a:t>UniVerify V2.0  |  B.Tech CSE — Project Review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8000" y="6578600"/>
            <a:ext cx="11176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Arial"/>
              </a:rPr>
              <a:t>Decentralized Academic Certificate Verification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31800"/>
            <a:ext cx="88900" cy="381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6600" y="406400"/>
            <a:ext cx="965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Arial"/>
              </a:rPr>
              <a:t>UML — 4/5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3900" y="584200"/>
            <a:ext cx="101600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6213E"/>
                </a:solidFill>
                <a:latin typeface="Arial"/>
              </a:rPr>
              <a:t>Activity Diagram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016000"/>
            <a:ext cx="11176000" cy="0"/>
          </a:xfrm>
          <a:prstGeom prst="line">
            <a:avLst/>
          </a:prstGeom>
          <a:ln w="1524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8000" y="4064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B6678"/>
                </a:solidFill>
                <a:latin typeface="Arial"/>
              </a:rPr>
              <a:t>14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600" y="889000"/>
            <a:ext cx="10414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B6678"/>
                </a:solidFill>
                <a:latin typeface="Arial"/>
              </a:rPr>
              <a:t>Issuance (write) and verification (read) control flow with a decision.</a:t>
            </a:r>
          </a:p>
        </p:txBody>
      </p:sp>
      <p:sp>
        <p:nvSpPr>
          <p:cNvPr id="8" name="Oval 7"/>
          <p:cNvSpPr/>
          <p:nvPr/>
        </p:nvSpPr>
        <p:spPr>
          <a:xfrm>
            <a:off x="1143000" y="1397000"/>
            <a:ext cx="228600" cy="228600"/>
          </a:xfrm>
          <a:prstGeom prst="ellipse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257300" y="1625600"/>
            <a:ext cx="0" cy="279400"/>
          </a:xfrm>
          <a:prstGeom prst="line">
            <a:avLst/>
          </a:prstGeom>
          <a:ln w="17780">
            <a:solidFill>
              <a:srgbClr val="5B667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8000" y="1905000"/>
            <a:ext cx="1524000" cy="508000"/>
          </a:xfrm>
          <a:prstGeom prst="roundRect">
            <a:avLst>
              <a:gd name="adj" fmla="val 20000"/>
            </a:avLst>
          </a:prstGeom>
          <a:solidFill>
            <a:srgbClr val="FEF1D6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8000" y="1905000"/>
            <a:ext cx="1524000" cy="63500"/>
          </a:xfrm>
          <a:prstGeom prst="roundRect">
            <a:avLst>
              <a:gd name="adj" fmla="val 4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4200" y="1968500"/>
            <a:ext cx="1371600" cy="444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Arial"/>
              </a:rPr>
              <a:t>Admin enters</a:t>
            </a:r>
          </a:p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Arial"/>
              </a:rPr>
              <a:t>data (Remix)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257300" y="2413000"/>
            <a:ext cx="0" cy="279400"/>
          </a:xfrm>
          <a:prstGeom prst="line">
            <a:avLst/>
          </a:prstGeom>
          <a:ln w="17780">
            <a:solidFill>
              <a:srgbClr val="5B667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Diamond 13"/>
          <p:cNvSpPr/>
          <p:nvPr/>
        </p:nvSpPr>
        <p:spPr>
          <a:xfrm>
            <a:off x="762000" y="2692400"/>
            <a:ext cx="990600" cy="711200"/>
          </a:xfrm>
          <a:prstGeom prst="diamond">
            <a:avLst/>
          </a:prstGeom>
          <a:solidFill>
            <a:srgbClr val="E3ECFD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2000" y="2692400"/>
            <a:ext cx="990600" cy="711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6213E"/>
                </a:solidFill>
                <a:latin typeface="Arial"/>
              </a:rPr>
              <a:t>msg.sender</a:t>
            </a:r>
          </a:p>
          <a:p>
            <a:pPr algn="ct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6213E"/>
                </a:solidFill>
                <a:latin typeface="Arial"/>
              </a:rPr>
              <a:t>== admin?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752600" y="3048000"/>
            <a:ext cx="787400" cy="0"/>
          </a:xfrm>
          <a:prstGeom prst="line">
            <a:avLst/>
          </a:prstGeom>
          <a:ln w="17780">
            <a:solidFill>
              <a:srgbClr val="5B667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778000" y="2870200"/>
            <a:ext cx="889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DC2626"/>
                </a:solidFill>
                <a:latin typeface="Arial"/>
              </a:rPr>
              <a:t>no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40000" y="2768600"/>
            <a:ext cx="1524000" cy="558800"/>
          </a:xfrm>
          <a:prstGeom prst="roundRect">
            <a:avLst>
              <a:gd name="adj" fmla="val 18181"/>
            </a:avLst>
          </a:prstGeom>
          <a:solidFill>
            <a:srgbClr val="FCE3E0"/>
          </a:solidFill>
          <a:ln w="1778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540000" y="2768600"/>
            <a:ext cx="1524000" cy="63500"/>
          </a:xfrm>
          <a:prstGeom prst="roundRect">
            <a:avLst>
              <a:gd name="adj" fmla="val 4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16200" y="2832100"/>
            <a:ext cx="1371600" cy="495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Arial"/>
              </a:rPr>
              <a:t>Revert tx</a:t>
            </a:r>
          </a:p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Arial"/>
              </a:rPr>
              <a:t>(no gas wasted)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257300" y="3403600"/>
            <a:ext cx="0" cy="279400"/>
          </a:xfrm>
          <a:prstGeom prst="line">
            <a:avLst/>
          </a:prstGeom>
          <a:ln w="17780">
            <a:solidFill>
              <a:srgbClr val="5B667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320800" y="3429000"/>
            <a:ext cx="635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A34A"/>
                </a:solidFill>
                <a:latin typeface="Arial"/>
              </a:rPr>
              <a:t>yes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8000" y="3683000"/>
            <a:ext cx="1524000" cy="558800"/>
          </a:xfrm>
          <a:prstGeom prst="roundRect">
            <a:avLst>
              <a:gd name="adj" fmla="val 18181"/>
            </a:avLst>
          </a:prstGeom>
          <a:solidFill>
            <a:srgbClr val="DCFCE7"/>
          </a:solidFill>
          <a:ln w="1778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8000" y="3683000"/>
            <a:ext cx="1524000" cy="63500"/>
          </a:xfrm>
          <a:prstGeom prst="roundRect">
            <a:avLst>
              <a:gd name="adj" fmla="val 4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4200" y="3746500"/>
            <a:ext cx="1371600" cy="495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Arial"/>
              </a:rPr>
              <a:t>Write record</a:t>
            </a:r>
          </a:p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Arial"/>
              </a:rPr>
              <a:t>&amp; mine block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12000" y="1498600"/>
            <a:ext cx="0" cy="279400"/>
          </a:xfrm>
          <a:prstGeom prst="line">
            <a:avLst/>
          </a:prstGeom>
          <a:ln w="17780">
            <a:solidFill>
              <a:srgbClr val="5B667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997700" y="1397000"/>
            <a:ext cx="228600" cy="228600"/>
          </a:xfrm>
          <a:prstGeom prst="ellipse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50000" y="1778000"/>
            <a:ext cx="1524000" cy="508000"/>
          </a:xfrm>
          <a:prstGeom prst="roundRect">
            <a:avLst>
              <a:gd name="adj" fmla="val 20000"/>
            </a:avLst>
          </a:prstGeom>
          <a:solidFill>
            <a:srgbClr val="DCFCE7"/>
          </a:solidFill>
          <a:ln w="1778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350000" y="1778000"/>
            <a:ext cx="1524000" cy="63500"/>
          </a:xfrm>
          <a:prstGeom prst="roundRect">
            <a:avLst>
              <a:gd name="adj" fmla="val 4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6200" y="1841500"/>
            <a:ext cx="1371600" cy="444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Arial"/>
              </a:rPr>
              <a:t>Verifier enters</a:t>
            </a:r>
          </a:p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Arial"/>
              </a:rPr>
              <a:t>Reg. No.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12000" y="2286000"/>
            <a:ext cx="0" cy="279400"/>
          </a:xfrm>
          <a:prstGeom prst="line">
            <a:avLst/>
          </a:prstGeom>
          <a:ln w="17780">
            <a:solidFill>
              <a:srgbClr val="5B667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350000" y="2565400"/>
            <a:ext cx="1524000" cy="508000"/>
          </a:xfrm>
          <a:prstGeom prst="roundRect">
            <a:avLst>
              <a:gd name="adj" fmla="val 20000"/>
            </a:avLst>
          </a:prstGeom>
          <a:solidFill>
            <a:srgbClr val="D6F1F2"/>
          </a:solidFill>
          <a:ln w="1778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350000" y="2565400"/>
            <a:ext cx="1524000" cy="63500"/>
          </a:xfrm>
          <a:prstGeom prst="roundRect">
            <a:avLst>
              <a:gd name="adj" fmla="val 40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26200" y="2628900"/>
            <a:ext cx="1371600" cy="444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Arial"/>
              </a:rPr>
              <a:t>view call</a:t>
            </a:r>
          </a:p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Arial"/>
              </a:rPr>
              <a:t>certificates()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112000" y="3073400"/>
            <a:ext cx="0" cy="254000"/>
          </a:xfrm>
          <a:prstGeom prst="line">
            <a:avLst/>
          </a:prstGeom>
          <a:ln w="17780">
            <a:solidFill>
              <a:srgbClr val="5B667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Diamond 35"/>
          <p:cNvSpPr/>
          <p:nvPr/>
        </p:nvSpPr>
        <p:spPr>
          <a:xfrm>
            <a:off x="6553200" y="3327400"/>
            <a:ext cx="1117600" cy="736600"/>
          </a:xfrm>
          <a:prstGeom prst="diamond">
            <a:avLst/>
          </a:prstGeom>
          <a:solidFill>
            <a:srgbClr val="EDE7FC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53200" y="3327400"/>
            <a:ext cx="1117600" cy="736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6213E"/>
                </a:solidFill>
                <a:latin typeface="Arial"/>
              </a:rPr>
              <a:t>studentName</a:t>
            </a:r>
          </a:p>
          <a:p>
            <a:pPr algn="ct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6213E"/>
                </a:solidFill>
                <a:latin typeface="Arial"/>
              </a:rPr>
              <a:t>empty?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670800" y="3695700"/>
            <a:ext cx="1219200" cy="0"/>
          </a:xfrm>
          <a:prstGeom prst="line">
            <a:avLst/>
          </a:prstGeom>
          <a:ln w="17780">
            <a:solidFill>
              <a:srgbClr val="5B667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96200" y="3517900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DC2626"/>
                </a:solidFill>
                <a:latin typeface="Arial"/>
              </a:rPr>
              <a:t>yes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890000" y="3416300"/>
            <a:ext cx="1651000" cy="558800"/>
          </a:xfrm>
          <a:prstGeom prst="roundRect">
            <a:avLst>
              <a:gd name="adj" fmla="val 18181"/>
            </a:avLst>
          </a:prstGeom>
          <a:solidFill>
            <a:srgbClr val="FCE3E0"/>
          </a:solidFill>
          <a:ln w="1778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890000" y="3416300"/>
            <a:ext cx="1651000" cy="63500"/>
          </a:xfrm>
          <a:prstGeom prst="roundRect">
            <a:avLst>
              <a:gd name="adj" fmla="val 4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66200" y="3479800"/>
            <a:ext cx="1498600" cy="495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Arial"/>
              </a:rPr>
              <a:t>Show</a:t>
            </a:r>
          </a:p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Arial"/>
              </a:rPr>
              <a:t>“Record Not Found”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112000" y="4064000"/>
            <a:ext cx="0" cy="279400"/>
          </a:xfrm>
          <a:prstGeom prst="line">
            <a:avLst/>
          </a:prstGeom>
          <a:ln w="17780">
            <a:solidFill>
              <a:srgbClr val="5B667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188200" y="4089400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A34A"/>
                </a:solidFill>
                <a:latin typeface="Arial"/>
              </a:rPr>
              <a:t>no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350000" y="4343400"/>
            <a:ext cx="1524000" cy="558800"/>
          </a:xfrm>
          <a:prstGeom prst="roundRect">
            <a:avLst>
              <a:gd name="adj" fmla="val 18181"/>
            </a:avLst>
          </a:prstGeom>
          <a:solidFill>
            <a:srgbClr val="DCFCE7"/>
          </a:solidFill>
          <a:ln w="1778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350000" y="4343400"/>
            <a:ext cx="1524000" cy="63500"/>
          </a:xfrm>
          <a:prstGeom prst="roundRect">
            <a:avLst>
              <a:gd name="adj" fmla="val 4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26200" y="4406900"/>
            <a:ext cx="1371600" cy="495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Arial"/>
              </a:rPr>
              <a:t>Show Verified</a:t>
            </a:r>
          </a:p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Arial"/>
              </a:rPr>
              <a:t>Certificate</a:t>
            </a:r>
          </a:p>
        </p:txBody>
      </p:sp>
      <p:sp>
        <p:nvSpPr>
          <p:cNvPr id="48" name="Oval 47"/>
          <p:cNvSpPr/>
          <p:nvPr/>
        </p:nvSpPr>
        <p:spPr>
          <a:xfrm>
            <a:off x="1168400" y="4572000"/>
            <a:ext cx="228600" cy="228600"/>
          </a:xfrm>
          <a:prstGeom prst="ellipse">
            <a:avLst/>
          </a:prstGeom>
          <a:noFill/>
          <a:ln w="19050">
            <a:solidFill>
              <a:srgbClr val="1621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219200" y="4622800"/>
            <a:ext cx="127000" cy="127000"/>
          </a:xfrm>
          <a:prstGeom prst="ellipse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1257300" y="4241800"/>
            <a:ext cx="0" cy="330200"/>
          </a:xfrm>
          <a:prstGeom prst="line">
            <a:avLst/>
          </a:prstGeom>
          <a:ln w="17780">
            <a:solidFill>
              <a:srgbClr val="5B667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6997700" y="5130800"/>
            <a:ext cx="228600" cy="228600"/>
          </a:xfrm>
          <a:prstGeom prst="ellipse">
            <a:avLst/>
          </a:prstGeom>
          <a:noFill/>
          <a:ln w="19050">
            <a:solidFill>
              <a:srgbClr val="1621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048500" y="5181600"/>
            <a:ext cx="127000" cy="127000"/>
          </a:xfrm>
          <a:prstGeom prst="ellipse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7112000" y="4902200"/>
            <a:ext cx="0" cy="228600"/>
          </a:xfrm>
          <a:prstGeom prst="line">
            <a:avLst/>
          </a:prstGeom>
          <a:ln w="17780">
            <a:solidFill>
              <a:srgbClr val="5B667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9715500" y="3975100"/>
            <a:ext cx="0" cy="1270000"/>
          </a:xfrm>
          <a:prstGeom prst="line">
            <a:avLst/>
          </a:prstGeom>
          <a:ln w="16510">
            <a:solidFill>
              <a:srgbClr val="5B66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7226300" y="5245100"/>
            <a:ext cx="2489200" cy="0"/>
          </a:xfrm>
          <a:prstGeom prst="line">
            <a:avLst/>
          </a:prstGeom>
          <a:ln w="16510">
            <a:solidFill>
              <a:srgbClr val="5B667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08000" y="1219200"/>
            <a:ext cx="2540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7706"/>
                </a:solidFill>
                <a:latin typeface="Arial"/>
              </a:rPr>
              <a:t>Issuance (write path)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50000" y="1219200"/>
            <a:ext cx="2794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A34A"/>
                </a:solidFill>
                <a:latin typeface="Arial"/>
              </a:rPr>
              <a:t>Verification (read path)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508000" y="6502400"/>
            <a:ext cx="11176000" cy="0"/>
          </a:xfrm>
          <a:prstGeom prst="line">
            <a:avLst/>
          </a:prstGeom>
          <a:ln w="1016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508000" y="6578600"/>
            <a:ext cx="7620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Arial"/>
              </a:rPr>
              <a:t>UniVerify V2.0  |  B.Tech CSE — Project Review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8000" y="6578600"/>
            <a:ext cx="11176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Arial"/>
              </a:rPr>
              <a:t>Decentralized Academic Certificate Verification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31800"/>
            <a:ext cx="88900" cy="381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6600" y="406400"/>
            <a:ext cx="965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Arial"/>
              </a:rPr>
              <a:t>UML — 5/5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3900" y="584200"/>
            <a:ext cx="101600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6213E"/>
                </a:solidFill>
                <a:latin typeface="Arial"/>
              </a:rPr>
              <a:t>Component / Deployment Diagram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016000"/>
            <a:ext cx="11176000" cy="0"/>
          </a:xfrm>
          <a:prstGeom prst="line">
            <a:avLst/>
          </a:prstGeom>
          <a:ln w="1524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8000" y="4064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B6678"/>
                </a:solidFill>
                <a:latin typeface="Arial"/>
              </a:rPr>
              <a:t>15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600" y="889000"/>
            <a:ext cx="10414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B6678"/>
                </a:solidFill>
                <a:latin typeface="Arial"/>
              </a:rPr>
              <a:t>Components grouped by deployment node; dashed arrows are dependencies.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397000"/>
            <a:ext cx="4572000" cy="2540000"/>
          </a:xfrm>
          <a:prstGeom prst="roundRect">
            <a:avLst>
              <a:gd name="adj" fmla="val 4000"/>
            </a:avLst>
          </a:prstGeom>
          <a:noFill/>
          <a:ln w="17780">
            <a:solidFill>
              <a:srgbClr val="1F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73200"/>
            <a:ext cx="2540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3A8A"/>
                </a:solidFill>
                <a:latin typeface="Arial"/>
              </a:rPr>
              <a:t>«node» Client Browser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06500" y="1905000"/>
            <a:ext cx="1651000" cy="558800"/>
          </a:xfrm>
          <a:prstGeom prst="roundRect">
            <a:avLst>
              <a:gd name="adj" fmla="val 9090"/>
            </a:avLst>
          </a:prstGeom>
          <a:solidFill>
            <a:srgbClr val="EDE7FC"/>
          </a:solidFill>
          <a:ln w="1651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30300" y="2006600"/>
            <a:ext cx="177800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30300" y="2209800"/>
            <a:ext cx="177800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58900" y="1905000"/>
            <a:ext cx="1447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Arial"/>
              </a:rPr>
              <a:t>Web UI</a:t>
            </a:r>
          </a:p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Arial"/>
              </a:rPr>
              <a:t>(HTML/CSS/JS)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38500" y="1905000"/>
            <a:ext cx="1651000" cy="558800"/>
          </a:xfrm>
          <a:prstGeom prst="roundRect">
            <a:avLst>
              <a:gd name="adj" fmla="val 9090"/>
            </a:avLst>
          </a:prstGeom>
          <a:solidFill>
            <a:srgbClr val="E3ECFD"/>
          </a:solidFill>
          <a:ln w="1651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162300" y="2006600"/>
            <a:ext cx="177800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162300" y="2209800"/>
            <a:ext cx="177800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90900" y="1905000"/>
            <a:ext cx="1447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Arial"/>
              </a:rPr>
              <a:t>Ethers.js</a:t>
            </a:r>
          </a:p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Arial"/>
              </a:rPr>
              <a:t>Provider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22500" y="3048000"/>
            <a:ext cx="1651000" cy="558800"/>
          </a:xfrm>
          <a:prstGeom prst="roundRect">
            <a:avLst>
              <a:gd name="adj" fmla="val 9090"/>
            </a:avLst>
          </a:prstGeom>
          <a:solidFill>
            <a:srgbClr val="FEF1D6"/>
          </a:solidFill>
          <a:ln w="1651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46300" y="3149600"/>
            <a:ext cx="177800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46300" y="3352800"/>
            <a:ext cx="177800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74900" y="3048000"/>
            <a:ext cx="1447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Arial"/>
              </a:rPr>
              <a:t>MetaMask</a:t>
            </a:r>
          </a:p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Arial"/>
              </a:rPr>
              <a:t>Extension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857500" y="2184400"/>
            <a:ext cx="381000" cy="0"/>
          </a:xfrm>
          <a:prstGeom prst="line">
            <a:avLst/>
          </a:prstGeom>
          <a:ln w="15240">
            <a:solidFill>
              <a:srgbClr val="5B6678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3048000" y="2463800"/>
            <a:ext cx="635000" cy="584200"/>
          </a:xfrm>
          <a:prstGeom prst="line">
            <a:avLst/>
          </a:prstGeom>
          <a:ln w="15240">
            <a:solidFill>
              <a:srgbClr val="5B6678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969000" y="1397000"/>
            <a:ext cx="3556000" cy="2540000"/>
          </a:xfrm>
          <a:prstGeom prst="roundRect">
            <a:avLst>
              <a:gd name="adj" fmla="val 4000"/>
            </a:avLst>
          </a:prstGeom>
          <a:noFill/>
          <a:ln w="1778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1400" y="1473200"/>
            <a:ext cx="3048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C3AED"/>
                </a:solidFill>
                <a:latin typeface="Arial"/>
              </a:rPr>
              <a:t>«node» Ethereum Sepolia (EVM)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04000" y="2032000"/>
            <a:ext cx="2286000" cy="635000"/>
          </a:xfrm>
          <a:prstGeom prst="roundRect">
            <a:avLst>
              <a:gd name="adj" fmla="val 8000"/>
            </a:avLst>
          </a:prstGeom>
          <a:solidFill>
            <a:srgbClr val="EDE7FC"/>
          </a:solidFill>
          <a:ln w="1651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27800" y="2133600"/>
            <a:ext cx="177800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27800" y="2336800"/>
            <a:ext cx="177800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56400" y="2032000"/>
            <a:ext cx="20828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Arial"/>
              </a:rPr>
              <a:t>AcademicCertificates</a:t>
            </a:r>
          </a:p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Arial"/>
              </a:rPr>
              <a:t>(Solidity ^0.8.0)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04000" y="3048000"/>
            <a:ext cx="2286000" cy="558800"/>
          </a:xfrm>
          <a:prstGeom prst="roundRect">
            <a:avLst>
              <a:gd name="adj" fmla="val 9090"/>
            </a:avLst>
          </a:prstGeom>
          <a:solidFill>
            <a:srgbClr val="DCFCE7"/>
          </a:solidFill>
          <a:ln w="1651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27800" y="3149600"/>
            <a:ext cx="177800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27800" y="3352800"/>
            <a:ext cx="177800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56400" y="3048000"/>
            <a:ext cx="2082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Arial"/>
              </a:rPr>
              <a:t>Immutable Ledger</a:t>
            </a:r>
          </a:p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Arial"/>
              </a:rPr>
              <a:t>mapping&lt;string,Cert&gt;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747000" y="2667000"/>
            <a:ext cx="0" cy="381000"/>
          </a:xfrm>
          <a:prstGeom prst="line">
            <a:avLst/>
          </a:prstGeom>
          <a:ln w="15240">
            <a:solidFill>
              <a:srgbClr val="5B6678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889500" y="2184400"/>
            <a:ext cx="1714500" cy="165100"/>
          </a:xfrm>
          <a:prstGeom prst="line">
            <a:avLst/>
          </a:prstGeom>
          <a:ln w="15240">
            <a:solidFill>
              <a:srgbClr val="5B6678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207000" y="1905000"/>
            <a:ext cx="1397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5B6678"/>
                </a:solidFill>
                <a:latin typeface="Arial"/>
              </a:rPr>
              <a:t>view / tx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69000" y="4318000"/>
            <a:ext cx="3556000" cy="1524000"/>
          </a:xfrm>
          <a:prstGeom prst="roundRect">
            <a:avLst>
              <a:gd name="adj" fmla="val 6666"/>
            </a:avLst>
          </a:prstGeom>
          <a:noFill/>
          <a:ln w="1778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21400" y="4394200"/>
            <a:ext cx="3048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5B6678"/>
                </a:solidFill>
                <a:latin typeface="Arial"/>
              </a:rPr>
              <a:t>«node» Agent Server (Phase 2)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04000" y="4800600"/>
            <a:ext cx="2286000" cy="558800"/>
          </a:xfrm>
          <a:prstGeom prst="roundRect">
            <a:avLst>
              <a:gd name="adj" fmla="val 9090"/>
            </a:avLst>
          </a:prstGeom>
          <a:solidFill>
            <a:srgbClr val="EEF1F5"/>
          </a:solidFill>
          <a:ln w="1651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27800" y="4902200"/>
            <a:ext cx="177800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527800" y="5105400"/>
            <a:ext cx="177800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56400" y="4800600"/>
            <a:ext cx="2082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Arial"/>
              </a:rPr>
              <a:t>AI Agent</a:t>
            </a:r>
          </a:p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Arial"/>
              </a:rPr>
              <a:t>(Web3.py / Node)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604000" y="5461000"/>
            <a:ext cx="2286000" cy="279400"/>
          </a:xfrm>
          <a:prstGeom prst="roundRect">
            <a:avLst>
              <a:gd name="adj" fmla="val 18181"/>
            </a:avLst>
          </a:prstGeom>
          <a:solidFill>
            <a:srgbClr val="D6F1F2"/>
          </a:solidFill>
          <a:ln w="1651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27800" y="5562600"/>
            <a:ext cx="177800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527800" y="5765800"/>
            <a:ext cx="177800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756400" y="5461000"/>
            <a:ext cx="2082800" cy="279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Arial"/>
              </a:rPr>
              <a:t>IPFS (future)</a:t>
            </a:r>
          </a:p>
        </p:txBody>
      </p:sp>
      <p:cxnSp>
        <p:nvCxnSpPr>
          <p:cNvPr id="47" name="Connector 46"/>
          <p:cNvCxnSpPr/>
          <p:nvPr/>
        </p:nvCxnSpPr>
        <p:spPr>
          <a:xfrm flipV="1">
            <a:off x="7747000" y="3606800"/>
            <a:ext cx="0" cy="1193800"/>
          </a:xfrm>
          <a:prstGeom prst="line">
            <a:avLst/>
          </a:prstGeom>
          <a:ln w="15240">
            <a:solidFill>
              <a:srgbClr val="5B6678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810500" y="4064000"/>
            <a:ext cx="1397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5B6678"/>
                </a:solidFill>
                <a:latin typeface="Arial"/>
              </a:rPr>
              <a:t>writes (P2)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62000" y="4318000"/>
            <a:ext cx="4572000" cy="1524000"/>
          </a:xfrm>
          <a:prstGeom prst="roundRect">
            <a:avLst>
              <a:gd name="adj" fmla="val 6666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39800" y="4445000"/>
            <a:ext cx="4191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3A8A"/>
                </a:solidFill>
                <a:latin typeface="Arial"/>
              </a:rPr>
              <a:t>LEGEND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016000" y="4826000"/>
            <a:ext cx="635000" cy="0"/>
          </a:xfrm>
          <a:prstGeom prst="line">
            <a:avLst/>
          </a:prstGeom>
          <a:ln w="15240">
            <a:solidFill>
              <a:srgbClr val="5B6678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778000" y="4749800"/>
            <a:ext cx="3302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Arial"/>
              </a:rPr>
              <a:t>dependency / interface call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16000" y="5054600"/>
            <a:ext cx="304800" cy="203200"/>
          </a:xfrm>
          <a:prstGeom prst="roundRect">
            <a:avLst>
              <a:gd name="adj" fmla="val 18750"/>
            </a:avLst>
          </a:prstGeom>
          <a:solidFill>
            <a:srgbClr val="E3ECFD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778000" y="5080000"/>
            <a:ext cx="3302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Arial"/>
              </a:rPr>
              <a:t>deployable software component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16000" y="5384800"/>
            <a:ext cx="304800" cy="203200"/>
          </a:xfrm>
          <a:prstGeom prst="roundRect">
            <a:avLst>
              <a:gd name="adj" fmla="val 18750"/>
            </a:avLst>
          </a:prstGeom>
          <a:noFill/>
          <a:ln w="15240">
            <a:solidFill>
              <a:srgbClr val="1F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778000" y="5410200"/>
            <a:ext cx="3302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Arial"/>
              </a:rPr>
              <a:t>execution / deployment node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08000" y="6502400"/>
            <a:ext cx="11176000" cy="0"/>
          </a:xfrm>
          <a:prstGeom prst="line">
            <a:avLst/>
          </a:prstGeom>
          <a:ln w="1016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508000" y="6578600"/>
            <a:ext cx="7620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Arial"/>
              </a:rPr>
              <a:t>UniVerify V2.0  |  B.Tech CSE — Project Review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8000" y="6578600"/>
            <a:ext cx="11176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Arial"/>
              </a:rPr>
              <a:t>Decentralized Academic Certificate Verification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31800"/>
            <a:ext cx="88900" cy="381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6600" y="406400"/>
            <a:ext cx="965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Arial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3900" y="584200"/>
            <a:ext cx="101600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6213E"/>
                </a:solidFill>
                <a:latin typeface="Arial"/>
              </a:rPr>
              <a:t>Algorithm Used in Proposed Solution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016000"/>
            <a:ext cx="11176000" cy="0"/>
          </a:xfrm>
          <a:prstGeom prst="line">
            <a:avLst/>
          </a:prstGeom>
          <a:ln w="1524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8000" y="4064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B6678"/>
                </a:solidFill>
                <a:latin typeface="Arial"/>
              </a:rPr>
              <a:t>16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6600" y="1270000"/>
            <a:ext cx="5232400" cy="2946400"/>
          </a:xfrm>
          <a:prstGeom prst="roundRect">
            <a:avLst>
              <a:gd name="adj" fmla="val 3448"/>
            </a:avLst>
          </a:prstGeom>
          <a:solidFill>
            <a:srgbClr val="0B1220"/>
          </a:solidFill>
          <a:ln w="15240">
            <a:solidFill>
              <a:srgbClr val="1F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97000"/>
            <a:ext cx="48768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CC6FF"/>
                </a:solidFill>
                <a:latin typeface="Arial"/>
              </a:rPr>
              <a:t>Algorithm 1 — issueDegree (WRITE)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1701800"/>
            <a:ext cx="4826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FB4D6"/>
                </a:solidFill>
                <a:latin typeface="Courier New"/>
              </a:rPr>
              <a:t>Input : regNo, name, course, hash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1981200"/>
            <a:ext cx="4826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FB4D6"/>
                </a:solidFill>
                <a:latin typeface="Courier New"/>
              </a:rPr>
              <a:t>Pre   : caller wallet = university (RBAC)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2260600"/>
            <a:ext cx="4826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6EDF7"/>
                </a:solidFill>
                <a:latin typeface="Courier New"/>
              </a:rPr>
              <a:t>1. require(msg.sender == university)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2540000"/>
            <a:ext cx="4826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6EDF7"/>
                </a:solidFill>
                <a:latin typeface="Courier New"/>
              </a:rPr>
              <a:t>2.    else revert  // blocked at EVM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6000" y="2819400"/>
            <a:ext cx="4826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6EDF7"/>
                </a:solidFill>
                <a:latin typeface="Courier New"/>
              </a:rPr>
              <a:t>3. certificates[regNo] 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3098800"/>
            <a:ext cx="4826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FB4D6"/>
                </a:solidFill>
                <a:latin typeface="Courier New"/>
              </a:rPr>
              <a:t>       Certificate(name, course, hash)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6000" y="3378200"/>
            <a:ext cx="4826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6EDF7"/>
                </a:solidFill>
                <a:latin typeface="Courier New"/>
              </a:rPr>
              <a:t>4. totalIssued ← totalIssued + 1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6000" y="3657600"/>
            <a:ext cx="4826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FB4D6"/>
                </a:solidFill>
                <a:latin typeface="Courier New"/>
              </a:rPr>
              <a:t>Cost  : O(1) write  (+ gas in SepoliaETH)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3000" y="1270000"/>
            <a:ext cx="5232400" cy="2946400"/>
          </a:xfrm>
          <a:prstGeom prst="roundRect">
            <a:avLst>
              <a:gd name="adj" fmla="val 3448"/>
            </a:avLst>
          </a:prstGeom>
          <a:solidFill>
            <a:srgbClr val="0B1220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397000"/>
            <a:ext cx="48768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6EFAC"/>
                </a:solidFill>
                <a:latin typeface="Arial"/>
              </a:rPr>
              <a:t>Algorithm 2 — verifyCertificate (READ)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2400" y="1701800"/>
            <a:ext cx="4826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FB4D6"/>
                </a:solidFill>
                <a:latin typeface="Courier New"/>
              </a:rPr>
              <a:t>Input : regNo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2400" y="1981200"/>
            <a:ext cx="4826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6EDF7"/>
                </a:solidFill>
                <a:latin typeface="Courier New"/>
              </a:rPr>
              <a:t>1. data ← contract.certificates(regNo)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02400" y="2260600"/>
            <a:ext cx="4826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FB4D6"/>
                </a:solidFill>
                <a:latin typeface="Courier New"/>
              </a:rPr>
              <a:t>      // gasless view call via Ethers.js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2400" y="2540000"/>
            <a:ext cx="4826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6EDF7"/>
                </a:solidFill>
                <a:latin typeface="Courier New"/>
              </a:rPr>
              <a:t>2. if data.studentName == ""  then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2400" y="2819400"/>
            <a:ext cx="4826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6EDF7"/>
                </a:solidFill>
                <a:latin typeface="Courier New"/>
              </a:rPr>
              <a:t>3.    render("Record Not Found")  // .error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2400" y="3098800"/>
            <a:ext cx="4826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6EDF7"/>
                </a:solidFill>
                <a:latin typeface="Courier New"/>
              </a:rPr>
              <a:t>4. else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02400" y="3378200"/>
            <a:ext cx="4826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6EDF7"/>
                </a:solidFill>
                <a:latin typeface="Courier New"/>
              </a:rPr>
              <a:t>5.    render(data)                // .success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2400" y="3657600"/>
            <a:ext cx="4826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FB4D6"/>
                </a:solidFill>
                <a:latin typeface="Courier New"/>
              </a:rPr>
              <a:t>Cost  : O(1) read   (0 gas, instant)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6600" y="4394200"/>
            <a:ext cx="10718800" cy="838200"/>
          </a:xfrm>
          <a:prstGeom prst="roundRect">
            <a:avLst>
              <a:gd name="adj" fmla="val 12121"/>
            </a:avLst>
          </a:prstGeom>
          <a:solidFill>
            <a:srgbClr val="D6F1F2"/>
          </a:solidFill>
          <a:ln w="1524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9800" y="4521200"/>
            <a:ext cx="103124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7C86"/>
                </a:solidFill>
                <a:latin typeface="Arial"/>
              </a:rPr>
              <a:t>WHY O(1)?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9800" y="4775200"/>
            <a:ext cx="10312400" cy="146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6213E"/>
                </a:solidFill>
                <a:latin typeface="Arial"/>
              </a:rPr>
              <a:t>A hash-table state mapping resolves the storage slot for a Registration Number directly, with no iteration over records — unlike array/loop designs that are O(N)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9800" y="4978400"/>
            <a:ext cx="10312400" cy="146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6213E"/>
                </a:solidFill>
                <a:latin typeface="Arial"/>
              </a:rPr>
              <a:t>and whose gas cost grows with the number of students. RBAC require() rejects unauthorized writes before gas is spent.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08000" y="6502400"/>
            <a:ext cx="11176000" cy="0"/>
          </a:xfrm>
          <a:prstGeom prst="line">
            <a:avLst/>
          </a:prstGeom>
          <a:ln w="1016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08000" y="6578600"/>
            <a:ext cx="7620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Arial"/>
              </a:rPr>
              <a:t>UniVerify V2.0  |  B.Tech CSE — Project Review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000" y="6578600"/>
            <a:ext cx="11176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Arial"/>
              </a:rPr>
              <a:t>Decentralized Academic Certificate Verification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31800"/>
            <a:ext cx="88900" cy="381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6600" y="406400"/>
            <a:ext cx="965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Arial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3900" y="584200"/>
            <a:ext cx="101600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6213E"/>
                </a:solidFill>
                <a:latin typeface="Arial"/>
              </a:rPr>
              <a:t>Output Screenshots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016000"/>
            <a:ext cx="11176000" cy="0"/>
          </a:xfrm>
          <a:prstGeom prst="line">
            <a:avLst/>
          </a:prstGeom>
          <a:ln w="1524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8000" y="4064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B6678"/>
                </a:solidFill>
                <a:latin typeface="Arial"/>
              </a:rPr>
              <a:t>17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600" y="889000"/>
            <a:ext cx="10414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B6678"/>
                </a:solidFill>
                <a:latin typeface="Arial"/>
              </a:rPr>
              <a:t>Representative UI mock-ups — replace with your actual screenshots.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6600" y="1270000"/>
            <a:ext cx="5207000" cy="254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6600" y="1270000"/>
            <a:ext cx="5207000" cy="279400"/>
          </a:xfrm>
          <a:prstGeom prst="roundRect">
            <a:avLst>
              <a:gd name="adj" fmla="val 27272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6600" y="1447800"/>
            <a:ext cx="5207000" cy="1016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3600" y="1358900"/>
            <a:ext cx="101600" cy="101600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16000" y="1358900"/>
            <a:ext cx="101600" cy="10160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68400" y="1358900"/>
            <a:ext cx="101600" cy="10160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346200" y="1333500"/>
            <a:ext cx="4445000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2400" y="1333500"/>
            <a:ext cx="4318000" cy="152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3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B6678"/>
                </a:solidFill>
                <a:latin typeface="Arial"/>
              </a:rPr>
              <a:t>univerify.app/verify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9800" y="1676400"/>
            <a:ext cx="48006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6213E"/>
                </a:solidFill>
                <a:latin typeface="Arial"/>
              </a:rPr>
              <a:t>UniVerify — Certificate Verification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9800" y="1955800"/>
            <a:ext cx="3556000" cy="304800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1400" y="1955800"/>
            <a:ext cx="3429000" cy="304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13E"/>
                </a:solidFill>
                <a:latin typeface="Arial"/>
              </a:rPr>
              <a:t>2021CSE101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0" y="1955800"/>
            <a:ext cx="1168400" cy="304800"/>
          </a:xfrm>
          <a:prstGeom prst="roundRect">
            <a:avLst>
              <a:gd name="adj" fmla="val 20833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1955800"/>
            <a:ext cx="1168400" cy="304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Verify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9800" y="2413000"/>
            <a:ext cx="4800600" cy="1168400"/>
          </a:xfrm>
          <a:prstGeom prst="roundRect">
            <a:avLst>
              <a:gd name="adj" fmla="val 6521"/>
            </a:avLst>
          </a:prstGeom>
          <a:solidFill>
            <a:srgbClr val="DCFCE7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2200" y="2514600"/>
            <a:ext cx="457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6A34A"/>
                </a:solidFill>
                <a:latin typeface="Arial"/>
              </a:rPr>
              <a:t>✓ Certificate Verified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2200" y="2794000"/>
            <a:ext cx="4572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13E"/>
                </a:solidFill>
                <a:latin typeface="Arial"/>
              </a:rPr>
              <a:t>Name: &lt;Student Name&gt;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2200" y="3022600"/>
            <a:ext cx="4572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13E"/>
                </a:solidFill>
                <a:latin typeface="Arial"/>
              </a:rPr>
              <a:t>Course: B.Tech CSE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2200" y="3251200"/>
            <a:ext cx="4572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678"/>
                </a:solidFill>
                <a:latin typeface="Arial"/>
              </a:rPr>
              <a:t>Hash: a1b2c3...(mock, P1)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48400" y="1270000"/>
            <a:ext cx="5207000" cy="254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48400" y="1270000"/>
            <a:ext cx="5207000" cy="279400"/>
          </a:xfrm>
          <a:prstGeom prst="roundRect">
            <a:avLst>
              <a:gd name="adj" fmla="val 27272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48400" y="1447800"/>
            <a:ext cx="5207000" cy="1016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75400" y="1358900"/>
            <a:ext cx="101600" cy="101600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27800" y="1358900"/>
            <a:ext cx="101600" cy="10160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680200" y="1358900"/>
            <a:ext cx="101600" cy="10160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858000" y="1333500"/>
            <a:ext cx="4445000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34200" y="1333500"/>
            <a:ext cx="4318000" cy="152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3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B6678"/>
                </a:solidFill>
                <a:latin typeface="Arial"/>
              </a:rPr>
              <a:t>univerify.app/verify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1600" y="1676400"/>
            <a:ext cx="48006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6213E"/>
                </a:solidFill>
                <a:latin typeface="Arial"/>
              </a:rPr>
              <a:t>UniVerify — Certificate Verification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51600" y="1955800"/>
            <a:ext cx="3556000" cy="304800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53200" y="1955800"/>
            <a:ext cx="3429000" cy="304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13E"/>
                </a:solidFill>
                <a:latin typeface="Arial"/>
              </a:rPr>
              <a:t>9999XYZ000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83800" y="1955800"/>
            <a:ext cx="1168400" cy="304800"/>
          </a:xfrm>
          <a:prstGeom prst="roundRect">
            <a:avLst>
              <a:gd name="adj" fmla="val 20833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83800" y="1955800"/>
            <a:ext cx="1168400" cy="304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Verify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51600" y="2413000"/>
            <a:ext cx="4800600" cy="1168400"/>
          </a:xfrm>
          <a:prstGeom prst="roundRect">
            <a:avLst>
              <a:gd name="adj" fmla="val 6521"/>
            </a:avLst>
          </a:prstGeom>
          <a:solidFill>
            <a:srgbClr val="FCE3E0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04000" y="2514600"/>
            <a:ext cx="457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C2626"/>
                </a:solidFill>
                <a:latin typeface="Arial"/>
              </a:rPr>
              <a:t>✕ Record Not Found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04000" y="2819400"/>
            <a:ext cx="4572000" cy="127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13E"/>
                </a:solidFill>
                <a:latin typeface="Arial"/>
              </a:rPr>
              <a:t>No certificate exists for this Registration Number. Zero-state result intercepted by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04000" y="2997200"/>
            <a:ext cx="4572000" cy="127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13E"/>
                </a:solidFill>
                <a:latin typeface="Arial"/>
              </a:rPr>
              <a:t>the safety filter.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36600" y="4064000"/>
            <a:ext cx="10718800" cy="1168400"/>
          </a:xfrm>
          <a:prstGeom prst="roundRect">
            <a:avLst>
              <a:gd name="adj" fmla="val 8695"/>
            </a:avLst>
          </a:prstGeom>
          <a:solidFill>
            <a:srgbClr val="1E1E1E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9800" y="4191000"/>
            <a:ext cx="103124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D4D4D4"/>
                </a:solidFill>
                <a:latin typeface="Arial"/>
              </a:rPr>
              <a:t>Remix IDE — issueDegree (Admin write, Phase 1)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39800" y="4470400"/>
            <a:ext cx="2413000" cy="279400"/>
          </a:xfrm>
          <a:prstGeom prst="roundRect">
            <a:avLst>
              <a:gd name="adj" fmla="val 18181"/>
            </a:avLst>
          </a:prstGeom>
          <a:solidFill>
            <a:srgbClr val="2D2D2D"/>
          </a:solidFill>
          <a:ln w="10160">
            <a:solidFill>
              <a:srgbClr val="3C3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16000" y="4470400"/>
            <a:ext cx="2336800" cy="279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DCFE"/>
                </a:solidFill>
                <a:latin typeface="Courier New"/>
              </a:rPr>
              <a:t>_regNo: 2021CSE101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543300" y="4470400"/>
            <a:ext cx="2413000" cy="279400"/>
          </a:xfrm>
          <a:prstGeom prst="roundRect">
            <a:avLst>
              <a:gd name="adj" fmla="val 18181"/>
            </a:avLst>
          </a:prstGeom>
          <a:solidFill>
            <a:srgbClr val="2D2D2D"/>
          </a:solidFill>
          <a:ln w="10160">
            <a:solidFill>
              <a:srgbClr val="3C3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19500" y="4470400"/>
            <a:ext cx="2336800" cy="279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DCFE"/>
                </a:solidFill>
                <a:latin typeface="Courier New"/>
              </a:rPr>
              <a:t>_name: Student Name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46800" y="4470400"/>
            <a:ext cx="2413000" cy="279400"/>
          </a:xfrm>
          <a:prstGeom prst="roundRect">
            <a:avLst>
              <a:gd name="adj" fmla="val 18181"/>
            </a:avLst>
          </a:prstGeom>
          <a:solidFill>
            <a:srgbClr val="2D2D2D"/>
          </a:solidFill>
          <a:ln w="10160">
            <a:solidFill>
              <a:srgbClr val="3C3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23000" y="4470400"/>
            <a:ext cx="2336800" cy="279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DCFE"/>
                </a:solidFill>
                <a:latin typeface="Courier New"/>
              </a:rPr>
              <a:t>_course: B.Tech CSE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750300" y="4470400"/>
            <a:ext cx="2413000" cy="279400"/>
          </a:xfrm>
          <a:prstGeom prst="roundRect">
            <a:avLst>
              <a:gd name="adj" fmla="val 18181"/>
            </a:avLst>
          </a:prstGeom>
          <a:solidFill>
            <a:srgbClr val="2D2D2D"/>
          </a:solidFill>
          <a:ln w="10160">
            <a:solidFill>
              <a:srgbClr val="3C3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26500" y="4470400"/>
            <a:ext cx="2336800" cy="279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DCFE"/>
                </a:solidFill>
                <a:latin typeface="Courier New"/>
              </a:rPr>
              <a:t>_hash: a1b2c3 (manual mock)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39800" y="4851400"/>
            <a:ext cx="1524000" cy="279400"/>
          </a:xfrm>
          <a:prstGeom prst="roundRect">
            <a:avLst>
              <a:gd name="adj" fmla="val 18181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39800" y="48514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E1E1E"/>
                </a:solidFill>
                <a:latin typeface="Arial"/>
              </a:rPr>
              <a:t>transact (sign)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67000" y="4851400"/>
            <a:ext cx="6350000" cy="279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6EFAC"/>
                </a:solidFill>
                <a:latin typeface="Courier New"/>
              </a:rPr>
              <a:t>✓ status: 0x1 mined  —  gas used in SepoliaETH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08000" y="6502400"/>
            <a:ext cx="11176000" cy="0"/>
          </a:xfrm>
          <a:prstGeom prst="line">
            <a:avLst/>
          </a:prstGeom>
          <a:ln w="1016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508000" y="6578600"/>
            <a:ext cx="7620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Arial"/>
              </a:rPr>
              <a:t>UniVerify V2.0  |  B.Tech CSE — Project Review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8000" y="6578600"/>
            <a:ext cx="11176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Arial"/>
              </a:rPr>
              <a:t>Decentralized Academic Certificate Verification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31800"/>
            <a:ext cx="88900" cy="381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6600" y="406400"/>
            <a:ext cx="965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Arial"/>
              </a:rPr>
              <a:t>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3900" y="584200"/>
            <a:ext cx="101600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6213E"/>
                </a:solidFill>
                <a:latin typeface="Arial"/>
              </a:rPr>
              <a:t>Comparative Graph: Existing vs Proposed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016000"/>
            <a:ext cx="11176000" cy="0"/>
          </a:xfrm>
          <a:prstGeom prst="line">
            <a:avLst/>
          </a:prstGeom>
          <a:ln w="1524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8000" y="4064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B6678"/>
                </a:solidFill>
                <a:latin typeface="Arial"/>
              </a:rPr>
              <a:t>18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600" y="889000"/>
            <a:ext cx="10414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B6678"/>
                </a:solidFill>
                <a:latin typeface="Arial"/>
              </a:rPr>
              <a:t>Indicative qualitative scores (out of 10; higher is better).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143000" y="1651000"/>
            <a:ext cx="0" cy="3810000"/>
          </a:xfrm>
          <a:prstGeom prst="line">
            <a:avLst/>
          </a:prstGeom>
          <a:ln w="15240">
            <a:solidFill>
              <a:srgbClr val="5B66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43000" y="5461000"/>
            <a:ext cx="8890000" cy="0"/>
          </a:xfrm>
          <a:prstGeom prst="line">
            <a:avLst/>
          </a:prstGeom>
          <a:ln w="15240">
            <a:solidFill>
              <a:srgbClr val="5B66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43000" y="5461000"/>
            <a:ext cx="8890000" cy="0"/>
          </a:xfrm>
          <a:prstGeom prst="line">
            <a:avLst/>
          </a:prstGeom>
          <a:ln w="10160">
            <a:solidFill>
              <a:srgbClr val="F1F5F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63600" y="5397500"/>
            <a:ext cx="228600" cy="127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B6678"/>
                </a:solidFill>
                <a:latin typeface="Arial"/>
              </a:rPr>
              <a:t>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43000" y="4699000"/>
            <a:ext cx="8890000" cy="0"/>
          </a:xfrm>
          <a:prstGeom prst="line">
            <a:avLst/>
          </a:prstGeom>
          <a:ln w="10160">
            <a:solidFill>
              <a:srgbClr val="F1F5F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3600" y="4635500"/>
            <a:ext cx="228600" cy="127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B6678"/>
                </a:solidFill>
                <a:latin typeface="Arial"/>
              </a:rPr>
              <a:t>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143000" y="3937000"/>
            <a:ext cx="8890000" cy="0"/>
          </a:xfrm>
          <a:prstGeom prst="line">
            <a:avLst/>
          </a:prstGeom>
          <a:ln w="10160">
            <a:solidFill>
              <a:srgbClr val="F1F5F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63600" y="3873500"/>
            <a:ext cx="228600" cy="127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B6678"/>
                </a:solidFill>
                <a:latin typeface="Arial"/>
              </a:rPr>
              <a:t>4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43000" y="3175000"/>
            <a:ext cx="8890000" cy="0"/>
          </a:xfrm>
          <a:prstGeom prst="line">
            <a:avLst/>
          </a:prstGeom>
          <a:ln w="10160">
            <a:solidFill>
              <a:srgbClr val="F1F5F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63600" y="3111500"/>
            <a:ext cx="228600" cy="127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B6678"/>
                </a:solidFill>
                <a:latin typeface="Arial"/>
              </a:rPr>
              <a:t>6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143000" y="2413000"/>
            <a:ext cx="8890000" cy="0"/>
          </a:xfrm>
          <a:prstGeom prst="line">
            <a:avLst/>
          </a:prstGeom>
          <a:ln w="10160">
            <a:solidFill>
              <a:srgbClr val="F1F5F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63600" y="2349500"/>
            <a:ext cx="228600" cy="127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B6678"/>
                </a:solidFill>
                <a:latin typeface="Arial"/>
              </a:rPr>
              <a:t>8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143000" y="1651000"/>
            <a:ext cx="8890000" cy="0"/>
          </a:xfrm>
          <a:prstGeom prst="line">
            <a:avLst/>
          </a:prstGeom>
          <a:ln w="10160">
            <a:solidFill>
              <a:srgbClr val="F1F5F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63600" y="1587500"/>
            <a:ext cx="228600" cy="127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B6678"/>
                </a:solidFill>
                <a:latin typeface="Arial"/>
              </a:rPr>
              <a:t>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30867" y="4318000"/>
            <a:ext cx="414867" cy="1143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921933" y="2032000"/>
            <a:ext cx="414867" cy="3429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30867" y="4152900"/>
            <a:ext cx="414867" cy="139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C2626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1933" y="1866900"/>
            <a:ext cx="414867" cy="139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563EB"/>
                </a:solidFill>
                <a:latin typeface="Arial"/>
              </a:rPr>
              <a:t>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5511800"/>
            <a:ext cx="1481667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6213E"/>
                </a:solidFill>
                <a:latin typeface="Arial"/>
              </a:rPr>
              <a:t>Speed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12533" y="3937000"/>
            <a:ext cx="414867" cy="1524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403600" y="2032000"/>
            <a:ext cx="414867" cy="3429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12533" y="3771900"/>
            <a:ext cx="414867" cy="139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C2626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03600" y="1866900"/>
            <a:ext cx="414867" cy="139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563EB"/>
                </a:solidFill>
                <a:latin typeface="Arial"/>
              </a:rP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667" y="5511800"/>
            <a:ext cx="1481667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6213E"/>
                </a:solidFill>
                <a:latin typeface="Arial"/>
              </a:rPr>
              <a:t>Security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94200" y="4699000"/>
            <a:ext cx="414867" cy="762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85267" y="1651000"/>
            <a:ext cx="414867" cy="3810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94200" y="4533900"/>
            <a:ext cx="414867" cy="139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C2626"/>
                </a:solidFill>
                <a:latin typeface="Arial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85267" y="1485900"/>
            <a:ext cx="414867" cy="139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563EB"/>
                </a:solidFill>
                <a:latin typeface="Arial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06333" y="5511800"/>
            <a:ext cx="1481667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6213E"/>
                </a:solidFill>
                <a:latin typeface="Arial"/>
              </a:rPr>
              <a:t>Tamper-</a:t>
            </a:r>
          </a:p>
          <a:p>
            <a:pPr algn="ct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6213E"/>
                </a:solidFill>
                <a:latin typeface="Arial"/>
              </a:rPr>
              <a:t>resistance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75867" y="4318000"/>
            <a:ext cx="414867" cy="1143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66933" y="2032000"/>
            <a:ext cx="414867" cy="3429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875867" y="4152900"/>
            <a:ext cx="414867" cy="139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C2626"/>
                </a:solidFill>
                <a:latin typeface="Arial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6933" y="1866900"/>
            <a:ext cx="414867" cy="139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563EB"/>
                </a:solidFill>
                <a:latin typeface="Arial"/>
              </a:rPr>
              <a:t>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88000" y="5511800"/>
            <a:ext cx="1481667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6213E"/>
                </a:solidFill>
                <a:latin typeface="Arial"/>
              </a:rPr>
              <a:t>Transparency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57533" y="3937000"/>
            <a:ext cx="414867" cy="1524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848600" y="2413000"/>
            <a:ext cx="414867" cy="304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57533" y="3771900"/>
            <a:ext cx="414867" cy="139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C2626"/>
                </a:solidFill>
                <a:latin typeface="Arial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48600" y="2247900"/>
            <a:ext cx="414867" cy="139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563EB"/>
                </a:solidFill>
                <a:latin typeface="Arial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69667" y="5511800"/>
            <a:ext cx="1481667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6213E"/>
                </a:solidFill>
                <a:latin typeface="Arial"/>
              </a:rPr>
              <a:t>Cost-</a:t>
            </a:r>
          </a:p>
          <a:p>
            <a:pPr algn="ct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6213E"/>
                </a:solidFill>
                <a:latin typeface="Arial"/>
              </a:rPr>
              <a:t>efficiency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839200" y="3556000"/>
            <a:ext cx="414867" cy="1905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330267" y="2413000"/>
            <a:ext cx="414867" cy="304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839200" y="3390900"/>
            <a:ext cx="414867" cy="139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C2626"/>
                </a:solidFill>
                <a:latin typeface="Arial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30267" y="2247900"/>
            <a:ext cx="414867" cy="139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563EB"/>
                </a:solidFill>
                <a:latin typeface="Arial"/>
              </a:rPr>
              <a:t>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51333" y="5511800"/>
            <a:ext cx="1481667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6213E"/>
                </a:solidFill>
                <a:latin typeface="Arial"/>
              </a:rPr>
              <a:t>Scalability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112000" y="1422400"/>
            <a:ext cx="152400" cy="127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0" y="1409700"/>
            <a:ext cx="1143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Arial"/>
              </a:rPr>
              <a:t>Existing System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509000" y="1422400"/>
            <a:ext cx="152400" cy="127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712200" y="1409700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Arial"/>
              </a:rPr>
              <a:t>Proposed System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287000" y="1905000"/>
            <a:ext cx="1397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Arial"/>
              </a:rPr>
              <a:t>Lower latency,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87000" y="2108200"/>
            <a:ext cx="1397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Arial"/>
              </a:rPr>
              <a:t>no SPOF, and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87000" y="2311400"/>
            <a:ext cx="1397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Arial"/>
              </a:rPr>
              <a:t>immutable on-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87000" y="2514600"/>
            <a:ext cx="1397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Arial"/>
              </a:rPr>
              <a:t>chain records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87000" y="2717800"/>
            <a:ext cx="1397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Arial"/>
              </a:rPr>
              <a:t>drive the gains.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43000" y="5969000"/>
            <a:ext cx="8890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B6678"/>
                </a:solidFill>
                <a:latin typeface="Arial"/>
              </a:rPr>
              <a:t>Latency: ~7–14 days (existing)  →  ~seconds (proposed). Scores are indicative for comparison, not benchmarked units.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508000" y="6502400"/>
            <a:ext cx="11176000" cy="0"/>
          </a:xfrm>
          <a:prstGeom prst="line">
            <a:avLst/>
          </a:prstGeom>
          <a:ln w="1016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508000" y="6578600"/>
            <a:ext cx="7620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Arial"/>
              </a:rPr>
              <a:t>UniVerify V2.0  |  B.Tech CSE — Project Review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8000" y="6578600"/>
            <a:ext cx="11176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Arial"/>
              </a:rPr>
              <a:t>Decentralized Academic Certificate Verification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31800"/>
            <a:ext cx="88900" cy="381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6600" y="406400"/>
            <a:ext cx="965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Arial"/>
              </a:rP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3900" y="584200"/>
            <a:ext cx="101600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6213E"/>
                </a:solidFill>
                <a:latin typeface="Arial"/>
              </a:rPr>
              <a:t>Future Enhancement &amp; Conclusion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016000"/>
            <a:ext cx="11176000" cy="0"/>
          </a:xfrm>
          <a:prstGeom prst="line">
            <a:avLst/>
          </a:prstGeom>
          <a:ln w="1524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8000" y="4064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B6678"/>
                </a:solidFill>
                <a:latin typeface="Arial"/>
              </a:rPr>
              <a:t>19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600" y="1219200"/>
            <a:ext cx="5334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C3AED"/>
                </a:solidFill>
                <a:latin typeface="Arial"/>
              </a:rPr>
              <a:t>FUTURE ENHANCEMENTS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600" y="1485900"/>
            <a:ext cx="177800" cy="146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563EB"/>
                </a:solidFill>
                <a:latin typeface="Arial"/>
              </a:rPr>
              <a:t>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5200" y="1473200"/>
            <a:ext cx="5105400" cy="146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6213E"/>
                </a:solidFill>
                <a:latin typeface="Arial"/>
              </a:rPr>
              <a:t>Phase 2 AI agent.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5844" y="1473200"/>
            <a:ext cx="3814756" cy="146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B6678"/>
                </a:solidFill>
                <a:latin typeface="Arial"/>
              </a:rPr>
              <a:t>NLP-normalized ingestion, deterministic SHA-256 / IPFS hashing, 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1660144"/>
            <a:ext cx="5105400" cy="146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B6678"/>
                </a:solidFill>
                <a:latin typeface="Arial"/>
              </a:rPr>
              <a:t>programmatic transaction signing.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600" y="1961388"/>
            <a:ext cx="177800" cy="146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563EB"/>
                </a:solidFill>
                <a:latin typeface="Arial"/>
              </a:rPr>
              <a:t>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5200" y="1948688"/>
            <a:ext cx="5105400" cy="146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6213E"/>
                </a:solidFill>
                <a:latin typeface="Arial"/>
              </a:rPr>
              <a:t>Mainnet / Layer-2. 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0088" y="1948688"/>
            <a:ext cx="3790512" cy="146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B6678"/>
                </a:solidFill>
                <a:latin typeface="Arial"/>
              </a:rPr>
              <a:t>Deploy on a low-fee L2 (e.g., Polygon) for production-scale, low-cost issuance.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600" y="2249932"/>
            <a:ext cx="177800" cy="146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563EB"/>
                </a:solidFill>
                <a:latin typeface="Arial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200" y="2237232"/>
            <a:ext cx="5105400" cy="146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6213E"/>
                </a:solidFill>
                <a:latin typeface="Arial"/>
              </a:rPr>
              <a:t>Revocation &amp; expiry. 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91130" y="2237232"/>
            <a:ext cx="3579470" cy="146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B6678"/>
                </a:solidFill>
                <a:latin typeface="Arial"/>
              </a:rPr>
              <a:t>Support credential revocation and validity windows on-chain.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600" y="2538476"/>
            <a:ext cx="177800" cy="146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563EB"/>
                </a:solidFill>
                <a:latin typeface="Arial"/>
              </a:rPr>
              <a:t>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200" y="2525776"/>
            <a:ext cx="5105400" cy="146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6213E"/>
                </a:solidFill>
                <a:latin typeface="Arial"/>
              </a:rPr>
              <a:t>Multi-institution registry. 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58548" y="2525776"/>
            <a:ext cx="3312052" cy="146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B6678"/>
                </a:solidFill>
                <a:latin typeface="Arial"/>
              </a:rPr>
              <a:t>Federated admin roles for many universities.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600" y="2827020"/>
            <a:ext cx="177800" cy="146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563EB"/>
                </a:solidFill>
                <a:latin typeface="Arial"/>
              </a:rPr>
              <a:t>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5200" y="2814320"/>
            <a:ext cx="5105400" cy="146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6213E"/>
                </a:solidFill>
                <a:latin typeface="Arial"/>
              </a:rPr>
              <a:t>QR + mobile DID wallet. 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81872" y="2814320"/>
            <a:ext cx="3388728" cy="146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B6678"/>
                </a:solidFill>
                <a:latin typeface="Arial"/>
              </a:rPr>
              <a:t>Scan-to-verify and self-sovereign holder wallets.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0000" y="1270000"/>
            <a:ext cx="5105400" cy="4140200"/>
          </a:xfrm>
          <a:prstGeom prst="roundRect">
            <a:avLst>
              <a:gd name="adj" fmla="val 2453"/>
            </a:avLst>
          </a:prstGeom>
          <a:solidFill>
            <a:srgbClr val="F1F5F9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53200" y="1422400"/>
            <a:ext cx="47244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A34A"/>
                </a:solidFill>
                <a:latin typeface="Arial"/>
              </a:rPr>
              <a:t>CONCLUSION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53200" y="1701800"/>
            <a:ext cx="47244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6213E"/>
                </a:solidFill>
                <a:latin typeface="Arial"/>
              </a:rPr>
              <a:t>UniVerify V2.0 demonstrates that academic certificate verification can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3200" y="1917700"/>
            <a:ext cx="47244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6213E"/>
                </a:solidFill>
                <a:latin typeface="Arial"/>
              </a:rPr>
              <a:t>be transformed from a slow, centralized, forgery-prone process into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53200" y="2133600"/>
            <a:ext cx="47244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6213E"/>
                </a:solidFill>
                <a:latin typeface="Arial"/>
              </a:rPr>
              <a:t>an immutable, decentralized, constant-time lookup on a public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53200" y="2349500"/>
            <a:ext cx="47244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6213E"/>
                </a:solidFill>
                <a:latin typeface="Arial"/>
              </a:rPr>
              <a:t>blockchain.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53200" y="2717800"/>
            <a:ext cx="47244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B6678"/>
                </a:solidFill>
                <a:latin typeface="Arial"/>
              </a:rPr>
              <a:t>The Phase-1 prototype validates the contract’s state mutability, O(1)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53200" y="2933700"/>
            <a:ext cx="47244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B6678"/>
                </a:solidFill>
                <a:latin typeface="Arial"/>
              </a:rPr>
              <a:t>string-keyed retrieval, RBAC guardrails, and gasless read path under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53200" y="3149600"/>
            <a:ext cx="47244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B6678"/>
                </a:solidFill>
                <a:latin typeface="Arial"/>
              </a:rPr>
              <a:t>a manual curation paradigm — with the data-fingerprint field held as 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53200" y="3365500"/>
            <a:ext cx="47244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B6678"/>
                </a:solidFill>
                <a:latin typeface="Arial"/>
              </a:rPr>
              <a:t>mock placeholder.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53200" y="3962400"/>
            <a:ext cx="47244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B6678"/>
                </a:solidFill>
                <a:latin typeface="Arial"/>
              </a:rPr>
              <a:t>Phase 2 will close the loop with autonomous,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53200" y="4178300"/>
            <a:ext cx="47244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B6678"/>
                </a:solidFill>
                <a:latin typeface="Arial"/>
              </a:rPr>
              <a:t>cryptographically-hashed issuance, delivering an end-to-end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53200" y="4394200"/>
            <a:ext cx="47244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B6678"/>
                </a:solidFill>
                <a:latin typeface="Arial"/>
              </a:rPr>
              <a:t>trust-minimized credentialing system.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08000" y="6502400"/>
            <a:ext cx="11176000" cy="0"/>
          </a:xfrm>
          <a:prstGeom prst="line">
            <a:avLst/>
          </a:prstGeom>
          <a:ln w="1016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08000" y="6578600"/>
            <a:ext cx="7620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Arial"/>
              </a:rPr>
              <a:t>UniVerify V2.0  |  B.Tech CSE — Project Review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8000" y="6578600"/>
            <a:ext cx="11176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Arial"/>
              </a:rPr>
              <a:t>Decentralized Academic Certificate Verification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31800"/>
            <a:ext cx="88900" cy="381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6600" y="406400"/>
            <a:ext cx="965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Arial"/>
              </a:rPr>
              <a:t>BIBLIOGRAPHY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3900" y="584200"/>
            <a:ext cx="101600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6213E"/>
                </a:solidFill>
                <a:latin typeface="Arial"/>
              </a:rPr>
              <a:t>References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016000"/>
            <a:ext cx="11176000" cy="0"/>
          </a:xfrm>
          <a:prstGeom prst="line">
            <a:avLst/>
          </a:prstGeom>
          <a:ln w="1524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8000" y="4064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B6678"/>
                </a:solidFill>
                <a:latin typeface="Arial"/>
              </a:rPr>
              <a:t>20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600" y="889000"/>
            <a:ext cx="10414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B6678"/>
                </a:solidFill>
                <a:latin typeface="Arial"/>
              </a:rPr>
              <a:t>IEEE style — add your additional cited sources as needed.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600" y="1270000"/>
            <a:ext cx="107188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6213E"/>
                </a:solidFill>
                <a:latin typeface="Arial"/>
              </a:rPr>
              <a:t>[1]  S. Nakamoto, “Bitcoin: A Peer-to-Peer Electronic Cash System,” 2008.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600" y="1574800"/>
            <a:ext cx="107188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6213E"/>
                </a:solidFill>
                <a:latin typeface="Arial"/>
              </a:rPr>
              <a:t>[2]  V. Buterin, “Ethereum: A Next-Generation Smart Contract and Decentralized Application Platform,” White Paper, 2014.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6600" y="1879600"/>
            <a:ext cx="107188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6213E"/>
                </a:solidFill>
                <a:latin typeface="Arial"/>
              </a:rPr>
              <a:t>[3]  J. Benet, “IPFS — Content Addressed, Versioned, P2P File System,” arXiv:1407.3561, 2014.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600" y="2184400"/>
            <a:ext cx="107188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6213E"/>
                </a:solidFill>
                <a:latin typeface="Arial"/>
              </a:rPr>
              <a:t>[4]  MIT Media Lab, “Blockcerts: An Open Standard for Blockchain Certificates,” 2016. [Online]. Available: https://www.blockcerts.org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600" y="2489200"/>
            <a:ext cx="107188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6213E"/>
                </a:solidFill>
                <a:latin typeface="Arial"/>
              </a:rPr>
              <a:t>[5]  A. Grech and A. F. Camilleri, “Blockchain in Education,” Joint Research Centre (JRC), European Commission, 2017.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600" y="2794000"/>
            <a:ext cx="107188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6213E"/>
                </a:solidFill>
                <a:latin typeface="Arial"/>
              </a:rPr>
              <a:t>[6]  Ethereum Foundation, “Solidity Documentation (v0.8.x),” [Online]. Available: https://docs.soliditylang.org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600" y="3098800"/>
            <a:ext cx="107188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6213E"/>
                </a:solidFill>
                <a:latin typeface="Arial"/>
              </a:rPr>
              <a:t>[7]  Ethers.js, “Documentation (v5.7),” [Online]. Available: https://docs.ethers.org/v5/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600" y="3403600"/>
            <a:ext cx="107188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6213E"/>
                </a:solidFill>
                <a:latin typeface="Arial"/>
              </a:rPr>
              <a:t>[8]  ConsenSys, “MetaMask Developer Documentation,” [Online]. Available: https://docs.metamask.io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600" y="5969000"/>
            <a:ext cx="107188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7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B6678"/>
                </a:solidFill>
                <a:latin typeface="Arial"/>
              </a:rPr>
              <a:t>Note: references [1]–[5] are foundational works; replace or augment with the specific papers cited in your report.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8000" y="6502400"/>
            <a:ext cx="11176000" cy="0"/>
          </a:xfrm>
          <a:prstGeom prst="line">
            <a:avLst/>
          </a:prstGeom>
          <a:ln w="1016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08000" y="6578600"/>
            <a:ext cx="7620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Arial"/>
              </a:rPr>
              <a:t>UniVerify V2.0  |  B.Tech CSE — Project Review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000" y="6578600"/>
            <a:ext cx="11176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Arial"/>
              </a:rPr>
              <a:t>Decentralized Academic Certificate Verification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