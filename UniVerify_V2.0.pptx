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40" y="640080"/>
            <a:ext cx="146304" cy="146304"/>
          </a:xfrm>
          <a:prstGeom prst="ellipse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1371600"/>
            <a:ext cx="146304" cy="146304"/>
          </a:xfrm>
          <a:prstGeom prst="ellipse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737360"/>
            <a:ext cx="146304" cy="146304"/>
          </a:xfrm>
          <a:prstGeom prst="ellipse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394960"/>
            <a:ext cx="146304" cy="146304"/>
          </a:xfrm>
          <a:prstGeom prst="ellipse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943600"/>
            <a:ext cx="146304" cy="146304"/>
          </a:xfrm>
          <a:prstGeom prst="ellipse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00E5C7"/>
                </a:solidFill>
                <a:latin typeface="Segoe UI"/>
              </a:rPr>
              <a:t>WEB3  ·  BLOCKCHAIN  ·  DECENTRALIZED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2F5FA"/>
                </a:solidFill>
                <a:latin typeface="Segoe UI"/>
              </a:rPr>
              <a:t>UniVerify </a:t>
            </a:r>
            <a:r>
              <a:rPr sz="6600" b="1" i="0">
                <a:solidFill>
                  <a:srgbClr val="00E5C7"/>
                </a:solidFill>
                <a:latin typeface="Segoe UI"/>
              </a:rPr>
              <a:t>V2.0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9AA6C0"/>
                </a:solidFill>
                <a:latin typeface="Segoe UI Light"/>
              </a:rPr>
              <a:t>Decentralized Academic Certificate Verification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343400"/>
            <a:ext cx="2926080" cy="27432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AA6C0"/>
                </a:solidFill>
                <a:latin typeface="Segoe UI"/>
              </a:rPr>
              <a:t>Immutable. Globally accessible. Verified in </a:t>
            </a:r>
            <a:r>
              <a:rPr sz="1600" b="1" i="0">
                <a:solidFill>
                  <a:srgbClr val="3DDC84"/>
                </a:solidFill>
                <a:latin typeface="Segoe UI"/>
              </a:rPr>
              <a:t>zero-latency</a:t>
            </a:r>
            <a:r>
              <a:rPr sz="1600" b="0" i="0">
                <a:solidFill>
                  <a:srgbClr val="9AA6C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182B"/>
          </a:solidFill>
          <a:ln w="12700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00E5C7"/>
                </a:solidFill>
                <a:latin typeface="Segoe UI"/>
              </a:rPr>
              <a:t>Solidity ^0.8.0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54864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2182B"/>
          </a:solidFill>
          <a:ln w="12700">
            <a:solidFill>
              <a:srgbClr val="4D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4D8CFF"/>
                </a:solidFill>
                <a:latin typeface="Segoe UI"/>
              </a:rPr>
              <a:t>Ethers.js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54864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182B"/>
          </a:solidFill>
          <a:ln w="12700">
            <a:solidFill>
              <a:srgbClr val="9B6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9B6DFF"/>
                </a:solidFill>
                <a:latin typeface="Segoe UI"/>
              </a:rPr>
              <a:t>Sepolia Testnet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54864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2182B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3DDC84"/>
                </a:solidFill>
                <a:latin typeface="Segoe UI"/>
              </a:rPr>
              <a:t>MetaMask / EVM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THE CHALLENGE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The Problem with Traditional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02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6C0"/>
                </a:solidFill>
                <a:latin typeface="Segoe UI"/>
              </a:rPr>
              <a:t>Conventional degree verification depends on centralized databases and manual, paper-based pipelines — slow, costly, and fragile.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2542032" cy="3108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2542032" cy="54864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B34D"/>
                </a:solidFill>
                <a:latin typeface="Segoe UI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"/>
              </a:rPr>
              <a:t>High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0"/>
                </a:solidFill>
                <a:latin typeface="Segoe UI"/>
              </a:rPr>
              <a:t>Manual verification takes 7–14 days, delaying admissions, hiring and onboarding.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4" y="2514600"/>
            <a:ext cx="2542032" cy="3108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3864" y="2514600"/>
            <a:ext cx="2542032" cy="54864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278892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5C5C"/>
                </a:solidFill>
                <a:latin typeface="Segoe UI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520440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"/>
              </a:rPr>
              <a:t>Single Point of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4" y="420624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0"/>
                </a:solidFill>
                <a:latin typeface="Segoe UI"/>
              </a:rPr>
              <a:t>Centralized servers are vulnerable to outages, data manipulation and tampering.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14600"/>
            <a:ext cx="2542032" cy="3108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2514600"/>
            <a:ext cx="2542032" cy="54864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78892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4D8CFF"/>
                </a:solidFill>
                <a:latin typeface="Segoe UI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20440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"/>
              </a:rPr>
              <a:t>Administrative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0624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0"/>
                </a:solidFill>
                <a:latin typeface="Segoe UI"/>
              </a:rPr>
              <a:t>Repeated manual checks create high recurring costs and operational burden.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2" y="2514600"/>
            <a:ext cx="2542032" cy="3108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97112" y="2514600"/>
            <a:ext cx="2542032" cy="54864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278892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9B6DFF"/>
                </a:solidFill>
                <a:latin typeface="Segoe UI"/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520440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"/>
              </a:rPr>
              <a:t>Credential Forgery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420624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0"/>
                </a:solidFill>
                <a:latin typeface="Segoe UI"/>
              </a:rPr>
              <a:t>Sophisticated fake certificates are hard to detect without a trusted source of truth.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THE SOLUTION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A Decentralized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03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2F5FA"/>
                </a:solidFill>
                <a:latin typeface="Segoe UI"/>
              </a:rPr>
              <a:t>UniVerify V2.0 anchors academic certificate cryptographic records permanently onto a public blockchain.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00E5C7"/>
                </a:solidFill>
                <a:latin typeface="Segoe UI"/>
              </a:rPr>
              <a:t>▶ </a:t>
            </a:r>
            <a:r>
              <a:rPr sz="1400" b="1" i="0">
                <a:solidFill>
                  <a:srgbClr val="00E5C7"/>
                </a:solidFill>
                <a:latin typeface="Segoe UI"/>
              </a:rPr>
              <a:t>Immutable — </a:t>
            </a:r>
            <a:r>
              <a:rPr sz="1400" b="0" i="0">
                <a:solidFill>
                  <a:srgbClr val="9AA6C0"/>
                </a:solidFill>
                <a:latin typeface="Segoe UI"/>
              </a:rPr>
              <a:t>Once recorded, data can never be altered or deleted.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4D8CFF"/>
                </a:solidFill>
                <a:latin typeface="Segoe UI"/>
              </a:rPr>
              <a:t>▶ </a:t>
            </a:r>
            <a:r>
              <a:rPr sz="1400" b="1" i="0">
                <a:solidFill>
                  <a:srgbClr val="4D8CFF"/>
                </a:solidFill>
                <a:latin typeface="Segoe UI"/>
              </a:rPr>
              <a:t>Globally Accessible — </a:t>
            </a:r>
            <a:r>
              <a:rPr sz="1400" b="0" i="0">
                <a:solidFill>
                  <a:srgbClr val="9AA6C0"/>
                </a:solidFill>
                <a:latin typeface="Segoe UI"/>
              </a:rPr>
              <a:t>Anyone, anywhere can verify a credential 24/7.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3DDC84"/>
                </a:solidFill>
                <a:latin typeface="Segoe UI"/>
              </a:rPr>
              <a:t>▶ </a:t>
            </a:r>
            <a:r>
              <a:rPr sz="1400" b="1" i="0">
                <a:solidFill>
                  <a:srgbClr val="3DDC84"/>
                </a:solidFill>
                <a:latin typeface="Segoe UI"/>
              </a:rPr>
              <a:t>Zero-Latency — </a:t>
            </a:r>
            <a:r>
              <a:rPr sz="1400" b="0" i="0">
                <a:solidFill>
                  <a:srgbClr val="9AA6C0"/>
                </a:solidFill>
                <a:latin typeface="Segoe UI"/>
              </a:rPr>
              <a:t>Verification happens in seconds, not days.</a:t>
            </a:r>
          </a:p>
          <a:p>
            <a:pPr>
              <a:spcBef>
                <a:spcPts val="1200"/>
              </a:spcBef>
            </a:pPr>
            <a:r>
              <a:rPr sz="1300" b="1" i="0">
                <a:solidFill>
                  <a:srgbClr val="9B6DFF"/>
                </a:solidFill>
                <a:latin typeface="Segoe UI"/>
              </a:rPr>
              <a:t>▶ </a:t>
            </a:r>
            <a:r>
              <a:rPr sz="1400" b="1" i="0">
                <a:solidFill>
                  <a:srgbClr val="9B6DFF"/>
                </a:solidFill>
                <a:latin typeface="Segoe UI"/>
              </a:rPr>
              <a:t>Tamper-Proof — </a:t>
            </a:r>
            <a:r>
              <a:rPr sz="1400" b="0" i="0">
                <a:solidFill>
                  <a:srgbClr val="9AA6C0"/>
                </a:solidFill>
                <a:latin typeface="Segoe UI"/>
              </a:rPr>
              <a:t>Cryptographic anchoring defeats forgery attempts.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83080"/>
            <a:ext cx="4846320" cy="1874519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783080"/>
            <a:ext cx="4846320" cy="54864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65960"/>
            <a:ext cx="4297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5C5C"/>
                </a:solidFill>
                <a:latin typeface="Consolas"/>
              </a:rPr>
              <a:t>TRADITIONAL</a:t>
            </a:r>
          </a:p>
          <a:p>
            <a:pPr>
              <a:spcBef>
                <a:spcPts val="600"/>
              </a:spcBef>
            </a:pPr>
            <a:r>
              <a:rPr sz="2400" b="1" i="0">
                <a:solidFill>
                  <a:srgbClr val="F2F5FA"/>
                </a:solidFill>
                <a:latin typeface="Segoe UI"/>
              </a:rPr>
              <a:t>7–14 days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9AA6C0"/>
                </a:solidFill>
                <a:latin typeface="Segoe UI"/>
              </a:rPr>
              <a:t>Centralized · Manual · SPOF · Forgeable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840480"/>
            <a:ext cx="4846320" cy="1874519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3840480"/>
            <a:ext cx="4846320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023360"/>
            <a:ext cx="4297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DC84"/>
                </a:solidFill>
                <a:latin typeface="Consolas"/>
              </a:rPr>
              <a:t>UNIVERIFY V2.0</a:t>
            </a:r>
          </a:p>
          <a:p>
            <a:pPr>
              <a:spcBef>
                <a:spcPts val="600"/>
              </a:spcBef>
            </a:pPr>
            <a:r>
              <a:rPr sz="2400" b="1" i="0">
                <a:solidFill>
                  <a:srgbClr val="F2F5FA"/>
                </a:solidFill>
                <a:latin typeface="Segoe UI"/>
              </a:rPr>
              <a:t>~ Seconds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9AA6C0"/>
                </a:solidFill>
                <a:latin typeface="Segoe UI"/>
              </a:rPr>
              <a:t>Decentralized · Immutable · O(1) lookup ·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OVERVIEW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04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3456432" cy="54864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08483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E5C7"/>
                </a:solidFill>
                <a:latin typeface="Segoe UI"/>
              </a:rPr>
              <a:t>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22677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9AA6C0"/>
                </a:solidFill>
                <a:latin typeface="Consolas"/>
              </a:rPr>
              <a:t>PROJECT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F2F5FA"/>
                </a:solidFill>
                <a:latin typeface="Segoe UI"/>
              </a:rPr>
              <a:t>UniVerify V2.0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2880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828800"/>
            <a:ext cx="3456432" cy="54864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08483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4D8CFF"/>
                </a:solidFill>
                <a:latin typeface="Segoe U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2103120"/>
            <a:ext cx="22677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9AA6C0"/>
                </a:solidFill>
                <a:latin typeface="Consolas"/>
              </a:rPr>
              <a:t>DOMAIN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F2F5FA"/>
                </a:solidFill>
                <a:latin typeface="Segoe UI"/>
              </a:rPr>
              <a:t>Web3 · Blockchain · DID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82880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828800"/>
            <a:ext cx="3456432" cy="54864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08483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9B6DFF"/>
                </a:solidFill>
                <a:latin typeface="Segoe UI"/>
              </a:rPr>
              <a:t>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2103120"/>
            <a:ext cx="22677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9AA6C0"/>
                </a:solidFill>
                <a:latin typeface="Consolas"/>
              </a:rPr>
              <a:t>CONTRACT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F2F5FA"/>
                </a:solidFill>
                <a:latin typeface="Segoe UI"/>
              </a:rPr>
              <a:t>Solidity ^0.8.0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474720"/>
            <a:ext cx="3456432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73075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3DDC84"/>
                </a:solidFill>
                <a:latin typeface="Segoe UI"/>
              </a:rPr>
              <a:t>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749040"/>
            <a:ext cx="22677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9AA6C0"/>
                </a:solidFill>
                <a:latin typeface="Consolas"/>
              </a:rPr>
              <a:t>NETWORK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F2F5FA"/>
                </a:solidFill>
                <a:latin typeface="Segoe UI"/>
              </a:rPr>
              <a:t>Sepolia Testnet (EVM)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47472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3474720"/>
            <a:ext cx="3456432" cy="54864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373075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B34D"/>
                </a:solidFill>
                <a:latin typeface="Segoe UI"/>
              </a:rP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3749040"/>
            <a:ext cx="22677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9AA6C0"/>
                </a:solidFill>
                <a:latin typeface="Consolas"/>
              </a:rPr>
              <a:t>STORAGE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F2F5FA"/>
                </a:solidFill>
                <a:latin typeface="Segoe UI"/>
              </a:rPr>
              <a:t>IPFS hash anchoring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347472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4" y="3474720"/>
            <a:ext cx="3456432" cy="54864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373075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5C5C"/>
                </a:solidFill>
                <a:latin typeface="Segoe UI"/>
              </a:rPr>
              <a:t>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749040"/>
            <a:ext cx="22677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9AA6C0"/>
                </a:solidFill>
                <a:latin typeface="Consolas"/>
              </a:rPr>
              <a:t>ACCESS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F2F5FA"/>
                </a:solidFill>
                <a:latin typeface="Segoe UI"/>
              </a:rPr>
              <a:t>Role-Based (Admin only)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16636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12182B"/>
          </a:solidFill>
          <a:ln w="12700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5C7"/>
                </a:solidFill>
                <a:latin typeface="Consolas"/>
              </a:rPr>
              <a:t>CORE OBJECTIVE   </a:t>
            </a:r>
            <a:r>
              <a:rPr sz="1400" b="0" i="0">
                <a:solidFill>
                  <a:srgbClr val="F2F5FA"/>
                </a:solidFill>
                <a:latin typeface="Segoe UI"/>
              </a:rPr>
              <a:t>Replace slow, centralized, forgery-prone verification with an immutable, globally verifiable on-chain ledger.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ARCHITECTURE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Advanced Inventions in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05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12080" cy="54864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121408"/>
            <a:ext cx="868680" cy="548640"/>
          </a:xfrm>
          <a:prstGeom prst="roundRect">
            <a:avLst>
              <a:gd name="adj" fmla="val 20000"/>
            </a:avLst>
          </a:prstGeom>
          <a:solidFill>
            <a:srgbClr val="050912"/>
          </a:solidFill>
          <a:ln w="12700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E5C7"/>
                </a:solidFill>
                <a:latin typeface="Consolas"/>
              </a:rPr>
              <a:t>{ }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0312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5FA"/>
                </a:solidFill>
                <a:latin typeface="Segoe UI"/>
              </a:rPr>
              <a:t>String-to-Struct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78892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6C0"/>
                </a:solidFill>
                <a:latin typeface="Segoe UI"/>
              </a:rPr>
              <a:t>Records are keyed directly by the unique alphanumeric Registration Number (e.g. "2021CSE101") instead of numeric array indices.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212080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2121408"/>
            <a:ext cx="868680" cy="548640"/>
          </a:xfrm>
          <a:prstGeom prst="roundRect">
            <a:avLst>
              <a:gd name="adj" fmla="val 20000"/>
            </a:avLst>
          </a:prstGeom>
          <a:solidFill>
            <a:srgbClr val="050912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3DDC84"/>
                </a:solidFill>
                <a:latin typeface="Consolas"/>
              </a:rPr>
              <a:t>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10312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5FA"/>
                </a:solidFill>
                <a:latin typeface="Segoe UI"/>
              </a:rPr>
              <a:t>Constant-Time Lookups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78892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6C0"/>
                </a:solidFill>
                <a:latin typeface="Segoe UI"/>
              </a:rPr>
              <a:t>Moving from array loops to key-value mappings delivers O(1) retrieval — instant, scalable verification at any data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86199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886199"/>
            <a:ext cx="5212080" cy="54864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4178807"/>
            <a:ext cx="868680" cy="548640"/>
          </a:xfrm>
          <a:prstGeom prst="roundRect">
            <a:avLst>
              <a:gd name="adj" fmla="val 20000"/>
            </a:avLst>
          </a:prstGeom>
          <a:solidFill>
            <a:srgbClr val="050912"/>
          </a:solidFill>
          <a:ln w="12700">
            <a:solidFill>
              <a:srgbClr val="4D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4D8CFF"/>
                </a:solidFill>
                <a:latin typeface="Consolas"/>
              </a:rPr>
              <a:t>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60519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5FA"/>
                </a:solidFill>
                <a:latin typeface="Segoe UI"/>
              </a:rPr>
              <a:t>Manual Curation Paradigm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846319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6C0"/>
                </a:solidFill>
                <a:latin typeface="Segoe UI"/>
              </a:rPr>
              <a:t>Designed for registry officials to curate and cryptographically authorize verified student records directly onto the ledger.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199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886199"/>
            <a:ext cx="5212080" cy="54864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4178807"/>
            <a:ext cx="868680" cy="548640"/>
          </a:xfrm>
          <a:prstGeom prst="roundRect">
            <a:avLst>
              <a:gd name="adj" fmla="val 20000"/>
            </a:avLst>
          </a:prstGeom>
          <a:solidFill>
            <a:srgbClr val="050912"/>
          </a:solidFill>
          <a:ln w="12700">
            <a:solidFill>
              <a:srgbClr val="9B6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9B6DFF"/>
                </a:solidFill>
                <a:latin typeface="Consolas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160519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5FA"/>
                </a:solidFill>
                <a:latin typeface="Segoe UI"/>
              </a:rPr>
              <a:t>Role-Based 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846319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6C0"/>
                </a:solidFill>
                <a:latin typeface="Segoe UI"/>
              </a:rPr>
              <a:t>Only the deployer wallet (University Admin) can write. Unauthorized writes are blocked at the EVM level via require assertions.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CODEBASE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The Smart Contract (Solidity)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06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6903720" cy="4526280"/>
          </a:xfrm>
          <a:prstGeom prst="roundRect">
            <a:avLst>
              <a:gd name="adj" fmla="val 2000"/>
            </a:avLst>
          </a:prstGeom>
          <a:solidFill>
            <a:srgbClr val="050912"/>
          </a:solidFill>
          <a:ln w="12700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45920"/>
            <a:ext cx="6903720" cy="38404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773936"/>
            <a:ext cx="118872" cy="118872"/>
          </a:xfrm>
          <a:prstGeom prst="ellipse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1773936"/>
            <a:ext cx="118872" cy="118872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17904" y="1773936"/>
            <a:ext cx="118872" cy="118872"/>
          </a:xfrm>
          <a:prstGeom prst="ellipse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17007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6C0"/>
                </a:solidFill>
                <a:latin typeface="Consolas"/>
              </a:rPr>
              <a:t>AcademicCertificates.sol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48840"/>
            <a:ext cx="6446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A7388"/>
                </a:solidFill>
                <a:latin typeface="Consolas"/>
              </a:rPr>
              <a:t>// SPDX-License-Identifier: 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592FF"/>
                </a:solidFill>
                <a:latin typeface="Consolas"/>
              </a:rPr>
              <a:t>pragma solidity </a:t>
            </a:r>
            <a:r>
              <a:rPr sz="1050" b="0" i="0">
                <a:solidFill>
                  <a:srgbClr val="66D9EF"/>
                </a:solidFill>
                <a:latin typeface="Consolas"/>
              </a:rPr>
              <a:t>^0.8.0;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​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592FF"/>
                </a:solidFill>
                <a:latin typeface="Consolas"/>
              </a:rPr>
              <a:t>contract </a:t>
            </a:r>
            <a:r>
              <a:rPr sz="1050" b="0" i="0">
                <a:solidFill>
                  <a:srgbClr val="3DDC84"/>
                </a:solidFill>
                <a:latin typeface="Consolas"/>
              </a:rPr>
              <a:t>AcademicCertificates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592FF"/>
                </a:solidFill>
                <a:latin typeface="Consolas"/>
              </a:rPr>
              <a:t>  struct </a:t>
            </a:r>
            <a:r>
              <a:rPr sz="1050" b="0" i="0">
                <a:solidFill>
                  <a:srgbClr val="66D9EF"/>
                </a:solidFill>
                <a:latin typeface="Consolas"/>
              </a:rPr>
              <a:t>Certificate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D9EF"/>
                </a:solidFill>
                <a:latin typeface="Consolas"/>
              </a:rPr>
              <a:t>    string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 studentName;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D9EF"/>
                </a:solidFill>
                <a:latin typeface="Consolas"/>
              </a:rPr>
              <a:t>    string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 courseName;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D9EF"/>
                </a:solidFill>
                <a:latin typeface="Consolas"/>
              </a:rPr>
              <a:t>    string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 ipfsHash;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A7388"/>
                </a:solidFill>
                <a:latin typeface="Consolas"/>
              </a:rPr>
              <a:t>  // RegNo string -&gt; Certificate  (O(1))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592FF"/>
                </a:solidFill>
                <a:latin typeface="Consolas"/>
              </a:rPr>
              <a:t>  mapping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(string =&gt; Certificate) </a:t>
            </a:r>
            <a:r>
              <a:rPr sz="1050" b="0" i="0">
                <a:solidFill>
                  <a:srgbClr val="C592FF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 certificates;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D9EF"/>
                </a:solidFill>
                <a:latin typeface="Consolas"/>
              </a:rPr>
              <a:t>  uint256 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public totalIssued;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D9EF"/>
                </a:solidFill>
                <a:latin typeface="Consolas"/>
              </a:rPr>
              <a:t>  address 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public university;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​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C84"/>
                </a:solidFill>
                <a:latin typeface="Consolas"/>
              </a:rPr>
              <a:t>  constructor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    university = </a:t>
            </a:r>
            <a:r>
              <a:rPr sz="1050" b="0" i="0">
                <a:solidFill>
                  <a:srgbClr val="66D9EF"/>
                </a:solidFill>
                <a:latin typeface="Consolas"/>
              </a:rPr>
              <a:t>msg.sender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​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592FF"/>
                </a:solidFill>
                <a:latin typeface="Consolas"/>
              </a:rPr>
              <a:t>  function </a:t>
            </a:r>
            <a:r>
              <a:rPr sz="1050" b="0" i="0">
                <a:solidFill>
                  <a:srgbClr val="3DDC84"/>
                </a:solidFill>
                <a:latin typeface="Consolas"/>
              </a:rPr>
              <a:t>issueDegree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(...) </a:t>
            </a:r>
            <a:r>
              <a:rPr sz="1050" b="0" i="0">
                <a:solidFill>
                  <a:srgbClr val="C592FF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DC84"/>
                </a:solidFill>
                <a:latin typeface="Consolas"/>
              </a:rPr>
              <a:t>    require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(msg.sender == university,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      </a:t>
            </a:r>
            <a:r>
              <a:rPr sz="1050" b="0" i="0">
                <a:solidFill>
                  <a:srgbClr val="E6DB74"/>
                </a:solidFill>
                <a:latin typeface="Consolas"/>
              </a:rPr>
              <a:t>"Only the University..."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    certificates[_regNo] = </a:t>
            </a:r>
            <a:r>
              <a:rPr sz="1050" b="0" i="0">
                <a:solidFill>
                  <a:srgbClr val="66D9EF"/>
                </a:solidFill>
                <a:latin typeface="Consolas"/>
              </a:rPr>
              <a:t>Certificate</a:t>
            </a:r>
            <a:r>
              <a:rPr sz="1050" b="0" i="0">
                <a:solidFill>
                  <a:srgbClr val="E6EAF2"/>
                </a:solidFill>
                <a:latin typeface="Consolas"/>
              </a:rPr>
              <a:t>(...);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    totalIssued++;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6EAF2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737360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1737360"/>
            <a:ext cx="3474720" cy="54864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4708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E5C7"/>
                </a:solidFill>
                <a:latin typeface="Consolas"/>
              </a:rPr>
              <a:t>struct Certificate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9AA6C0"/>
                </a:solidFill>
                <a:latin typeface="Segoe UI"/>
              </a:rPr>
              <a:t>Bundles studentName, courseName &amp; IPFS hash.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2624328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2624328"/>
            <a:ext cx="3474720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3405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DDC84"/>
                </a:solidFill>
                <a:latin typeface="Consolas"/>
              </a:rPr>
              <a:t>mapping(string =&gt; …)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9AA6C0"/>
                </a:solidFill>
                <a:latin typeface="Segoe UI"/>
              </a:rPr>
              <a:t>Keyed by Registration Number for O(1) reads.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511296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3511296"/>
            <a:ext cx="3474720" cy="54864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62102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B6DFF"/>
                </a:solidFill>
                <a:latin typeface="Consolas"/>
              </a:rPr>
              <a:t>university = msg.sender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9AA6C0"/>
                </a:solidFill>
                <a:latin typeface="Segoe UI"/>
              </a:rPr>
              <a:t>Deployer is the permanent immutable admin.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4398264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4398264"/>
            <a:ext cx="3474720" cy="54864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50799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5C5C"/>
                </a:solidFill>
                <a:latin typeface="Consolas"/>
              </a:rPr>
              <a:t>require(... == university)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9AA6C0"/>
                </a:solidFill>
                <a:latin typeface="Segoe UI"/>
              </a:rPr>
              <a:t>Blocks all unauthorized writes at EVM level.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5285232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9560" y="5285232"/>
            <a:ext cx="3474720" cy="54864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53949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D8CFF"/>
                </a:solidFill>
                <a:latin typeface="Consolas"/>
              </a:rPr>
              <a:t>totalIssued++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9AA6C0"/>
                </a:solidFill>
                <a:latin typeface="Segoe UI"/>
              </a:rPr>
              <a:t>On-chain counter of all anchored degrees.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FRONTEND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Application Layout &amp;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07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54864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5FA"/>
                </a:solidFill>
                <a:latin typeface="Consolas"/>
              </a:rPr>
              <a:t>index.html </a:t>
            </a:r>
            <a:r>
              <a:rPr sz="1300" b="0" i="0">
                <a:solidFill>
                  <a:srgbClr val="9AA6C0"/>
                </a:solidFill>
                <a:latin typeface="Segoe UI"/>
              </a:rPr>
              <a:t>— Interface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6C0"/>
                </a:solidFill>
                <a:latin typeface="Segoe UI"/>
              </a:rPr>
              <a:t>Responsive Web3 dashboard with a sleek low-light terminal layout.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18688"/>
            <a:ext cx="82296" cy="50292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1546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E5C7"/>
                </a:solidFill>
                <a:latin typeface="Consolas"/>
              </a:rPr>
              <a:t>#regInput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9AA6C0"/>
                </a:solidFill>
                <a:latin typeface="Segoe UI"/>
              </a:rPr>
              <a:t>Alphanumeric entry gate — captures string keys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904488"/>
            <a:ext cx="82296" cy="50292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8404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DDC84"/>
                </a:solidFill>
                <a:latin typeface="Consolas"/>
              </a:rPr>
              <a:t>verifyCertificate()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9AA6C0"/>
                </a:solidFill>
                <a:latin typeface="Segoe UI"/>
              </a:rPr>
              <a:t>onclick trigger event fires the lookup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590288"/>
            <a:ext cx="82296" cy="502920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5262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D8CFF"/>
                </a:solidFill>
                <a:latin typeface="Consolas"/>
              </a:rPr>
              <a:t>#result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9AA6C0"/>
                </a:solidFill>
                <a:latin typeface="Segoe UI"/>
              </a:rPr>
              <a:t>Contextual output display element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276088"/>
            <a:ext cx="82296" cy="502920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2120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9B6DFF"/>
                </a:solidFill>
                <a:latin typeface="Consolas"/>
              </a:rPr>
              <a:t>.loading / .success / .error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9AA6C0"/>
                </a:solidFill>
                <a:latin typeface="Segoe UI"/>
              </a:rPr>
              <a:t>Dynamic CSS state selectors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783080"/>
            <a:ext cx="5212080" cy="54864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5FA"/>
                </a:solidFill>
                <a:latin typeface="Consolas"/>
              </a:rPr>
              <a:t>script.js </a:t>
            </a:r>
            <a:r>
              <a:rPr sz="1300" b="0" i="0">
                <a:solidFill>
                  <a:srgbClr val="9AA6C0"/>
                </a:solidFill>
                <a:latin typeface="Segoe UI"/>
              </a:rPr>
              <a:t>— Script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6C0"/>
                </a:solidFill>
                <a:latin typeface="Segoe UI"/>
              </a:rPr>
              <a:t>Connects to MetaMask via Ethers.js and queries on-chain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218688"/>
            <a:ext cx="82296" cy="502920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1546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B34D"/>
                </a:solidFill>
                <a:latin typeface="Consolas"/>
              </a:rPr>
              <a:t>Web3Provider(window.ethereum)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9AA6C0"/>
                </a:solidFill>
                <a:latin typeface="Segoe UI"/>
              </a:rPr>
              <a:t>Client-side MetaMask provider bridge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904488"/>
            <a:ext cx="82296" cy="50292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8404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DC84"/>
                </a:solidFill>
                <a:latin typeface="Consolas"/>
              </a:rPr>
              <a:t>contract.certificates(regNo)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9AA6C0"/>
                </a:solidFill>
                <a:latin typeface="Segoe UI"/>
              </a:rPr>
              <a:t>Core gasless view call to the contract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590288"/>
            <a:ext cx="82296" cy="502920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5262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D8CFF"/>
                </a:solidFill>
                <a:latin typeface="Consolas"/>
              </a:rPr>
              <a:t>ABI array + struct destructuring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9AA6C0"/>
                </a:solidFill>
                <a:latin typeface="Segoe UI"/>
              </a:rPr>
              <a:t>Decodes returned EVM struct properties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276088"/>
            <a:ext cx="82296" cy="502920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2120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Consolas"/>
              </a:rPr>
              <a:t>Safety filter on studentName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9AA6C0"/>
                </a:solidFill>
                <a:latin typeface="Segoe UI"/>
              </a:rPr>
              <a:t>Blank/undefined → "Record Not Found"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LIFECYCLE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System Dataflow: From Code to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08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2542032" cy="274320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2542032" cy="54864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4688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E5C7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337560"/>
            <a:ext cx="2084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"/>
              </a:rPr>
              <a:t>Compilation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886200"/>
            <a:ext cx="20848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0"/>
                </a:solidFill>
                <a:latin typeface="Segoe UI"/>
              </a:rPr>
              <a:t>Solidity → EVM bytecode + ABI JSON interface.</a:t>
            </a:r>
          </a:p>
        </p:txBody>
      </p:sp>
      <p:sp>
        <p:nvSpPr>
          <p:cNvPr id="10" name="Chevron 9"/>
          <p:cNvSpPr/>
          <p:nvPr/>
        </p:nvSpPr>
        <p:spPr>
          <a:xfrm>
            <a:off x="3355848" y="3337560"/>
            <a:ext cx="256032" cy="365760"/>
          </a:xfrm>
          <a:prstGeom prst="chevron">
            <a:avLst/>
          </a:prstGeom>
          <a:solidFill>
            <a:srgbClr val="5A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0168" y="2194560"/>
            <a:ext cx="2542032" cy="274320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0168" y="2194560"/>
            <a:ext cx="2542032" cy="54864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4688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4D8C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337560"/>
            <a:ext cx="2084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"/>
              </a:rP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86200"/>
            <a:ext cx="20848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0"/>
                </a:solidFill>
                <a:latin typeface="Segoe UI"/>
              </a:rPr>
              <a:t>Admin signs a contract-creation tx (blank "To"), pays gas to Sepolia.</a:t>
            </a:r>
          </a:p>
        </p:txBody>
      </p:sp>
      <p:sp>
        <p:nvSpPr>
          <p:cNvPr id="16" name="Chevron 15"/>
          <p:cNvSpPr/>
          <p:nvPr/>
        </p:nvSpPr>
        <p:spPr>
          <a:xfrm>
            <a:off x="6208776" y="3337560"/>
            <a:ext cx="256032" cy="365760"/>
          </a:xfrm>
          <a:prstGeom prst="chevron">
            <a:avLst/>
          </a:prstGeom>
          <a:solidFill>
            <a:srgbClr val="5A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83096" y="2194560"/>
            <a:ext cx="2542032" cy="274320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3096" y="2194560"/>
            <a:ext cx="2542032" cy="54864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4688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9B6DFF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3337560"/>
            <a:ext cx="2084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"/>
              </a:rPr>
              <a:t>Record Issuance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886200"/>
            <a:ext cx="20848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0"/>
                </a:solidFill>
                <a:latin typeface="Segoe UI"/>
              </a:rPr>
              <a:t>Admin writes a record; MetaMask signs, gas burned, data mined.</a:t>
            </a:r>
          </a:p>
        </p:txBody>
      </p:sp>
      <p:sp>
        <p:nvSpPr>
          <p:cNvPr id="22" name="Chevron 21"/>
          <p:cNvSpPr/>
          <p:nvPr/>
        </p:nvSpPr>
        <p:spPr>
          <a:xfrm>
            <a:off x="9061704" y="3337560"/>
            <a:ext cx="256032" cy="365760"/>
          </a:xfrm>
          <a:prstGeom prst="chevron">
            <a:avLst/>
          </a:prstGeom>
          <a:solidFill>
            <a:srgbClr val="5A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36024" y="2194560"/>
            <a:ext cx="2542032" cy="2743200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6024" y="2194560"/>
            <a:ext cx="2542032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92056" y="24688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DDC84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2056" y="3337560"/>
            <a:ext cx="2084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F5FA"/>
                </a:solidFill>
                <a:latin typeface="Segoe UI"/>
              </a:rPr>
              <a:t>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2056" y="3886200"/>
            <a:ext cx="20848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6C0"/>
                </a:solidFill>
                <a:latin typeface="Segoe UI"/>
              </a:rPr>
              <a:t>Verifier enters RegNo → gasless view call returns the record instantly.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B34D"/>
                </a:solidFill>
                <a:latin typeface="Segoe UI"/>
              </a:rPr>
              <a:t>● WRITE  </a:t>
            </a:r>
            <a:r>
              <a:rPr sz="1300" b="0" i="0">
                <a:solidFill>
                  <a:srgbClr val="9AA6C0"/>
                </a:solidFill>
                <a:latin typeface="Segoe UI"/>
              </a:rPr>
              <a:t>(state mutation · costs gas)        </a:t>
            </a:r>
            <a:r>
              <a:rPr sz="1300" b="1" i="0">
                <a:solidFill>
                  <a:srgbClr val="3DDC84"/>
                </a:solidFill>
                <a:latin typeface="Segoe UI"/>
              </a:rPr>
              <a:t>● READ  </a:t>
            </a:r>
            <a:r>
              <a:rPr sz="1300" b="0" i="0">
                <a:solidFill>
                  <a:srgbClr val="9AA6C0"/>
                </a:solidFill>
                <a:latin typeface="Segoe UI"/>
              </a:rPr>
              <a:t>(view call · gasless · instant)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READ PATH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Client-Side Verification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09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91440" cy="91440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E5C7"/>
                </a:solidFill>
                <a:latin typeface="Segoe U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75104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5FA"/>
                </a:solidFill>
                <a:latin typeface="Segoe UI"/>
              </a:rPr>
              <a:t>Verifier enters RegNo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9AA6C0"/>
                </a:solidFill>
                <a:latin typeface="Segoe UI"/>
              </a:rPr>
              <a:t>Alphanumeric string typed into #regInput.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9504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9504"/>
            <a:ext cx="91440" cy="914400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54096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4D8CFF"/>
                </a:solidFill>
                <a:latin typeface="Segoe U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35808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5FA"/>
                </a:solidFill>
                <a:latin typeface="Segoe UI"/>
              </a:rPr>
              <a:t>Ethers.js view call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9AA6C0"/>
                </a:solidFill>
                <a:latin typeface="Segoe UI"/>
              </a:rPr>
              <a:t>contract.certificates(regNo) — free &amp; gasless.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50208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50208"/>
            <a:ext cx="91440" cy="914400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1480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9B6DFF"/>
                </a:solidFill>
                <a:latin typeface="Segoe U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6512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5FA"/>
                </a:solidFill>
                <a:latin typeface="Segoe UI"/>
              </a:rPr>
              <a:t>EVM checks keyspace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9AA6C0"/>
                </a:solidFill>
                <a:latin typeface="Segoe UI"/>
              </a:rPr>
              <a:t>Mapping resolves the storage slot in O(1).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10912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010912"/>
            <a:ext cx="91440" cy="9144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75504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3DDC84"/>
                </a:solidFill>
                <a:latin typeface="Segoe U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57216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5FA"/>
                </a:solidFill>
                <a:latin typeface="Segoe UI"/>
              </a:rPr>
              <a:t>Render result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9AA6C0"/>
                </a:solidFill>
                <a:latin typeface="Segoe UI"/>
              </a:rPr>
              <a:t>Struct destructured &amp; shown in #result panel.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828800"/>
            <a:ext cx="4160520" cy="1874519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1828800"/>
            <a:ext cx="4160520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011680"/>
            <a:ext cx="3657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DDC84"/>
                </a:solidFill>
                <a:latin typeface="Consolas"/>
              </a:rPr>
              <a:t>#result</a:t>
            </a:r>
            <a:r>
              <a:rPr sz="1100" b="0" i="0">
                <a:solidFill>
                  <a:srgbClr val="5A6680"/>
                </a:solidFill>
                <a:latin typeface="Consolas"/>
              </a:rPr>
              <a:t>  .success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F2F5FA"/>
                </a:solidFill>
                <a:latin typeface="Segoe UI"/>
              </a:rPr>
              <a:t>✓ Certificate Verified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9AA6C0"/>
                </a:solidFill>
                <a:latin typeface="Segoe UI"/>
              </a:rPr>
              <a:t>Name · Course · IPFS hash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3886200"/>
            <a:ext cx="4160520" cy="1874519"/>
          </a:xfrm>
          <a:prstGeom prst="roundRect">
            <a:avLst>
              <a:gd name="adj" fmla="val 4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3886200"/>
            <a:ext cx="4160520" cy="54864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4069080"/>
            <a:ext cx="3657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5C5C"/>
                </a:solidFill>
                <a:latin typeface="Consolas"/>
              </a:rPr>
              <a:t>#result</a:t>
            </a:r>
            <a:r>
              <a:rPr sz="1100" b="0" i="0">
                <a:solidFill>
                  <a:srgbClr val="5A6680"/>
                </a:solidFill>
                <a:latin typeface="Consolas"/>
              </a:rPr>
              <a:t>  .error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F2F5FA"/>
                </a:solidFill>
                <a:latin typeface="Segoe UI"/>
              </a:rPr>
              <a:t>✕ Record Not Found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9AA6C0"/>
                </a:solidFill>
                <a:latin typeface="Segoe UI"/>
              </a:rPr>
              <a:t>Triggered when studentName is blank / undefined.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00E5C7"/>
                </a:solidFill>
                <a:latin typeface="Segoe UI"/>
              </a:rPr>
              <a:t>SUMMARY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2F5FA"/>
                </a:solidFill>
                <a:latin typeface="Segoe UI"/>
              </a:rPr>
              <a:t>Technology Stack &amp; 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0292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5A6680"/>
                </a:solidFill>
                <a:latin typeface="Consolas"/>
              </a:rPr>
              <a:t>10</a:t>
            </a:r>
            <a:r>
              <a:rPr sz="1300" b="0" i="0">
                <a:solidFill>
                  <a:srgbClr val="5A6680"/>
                </a:solidFill>
                <a:latin typeface="Consolas"/>
              </a:rPr>
              <a:t>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E5C7"/>
                </a:solidFill>
                <a:latin typeface="Consolas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82296" cy="45720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"/>
              </a:rPr>
              <a:t>Smart Contract  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9AA6C0"/>
                </a:solidFill>
                <a:latin typeface="Consolas"/>
              </a:rPr>
              <a:t>Solidity ^0.8.0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35224"/>
            <a:ext cx="82296" cy="457200"/>
          </a:xfrm>
          <a:prstGeom prst="rect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950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"/>
              </a:rPr>
              <a:t>Blockchain  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9AA6C0"/>
                </a:solidFill>
                <a:latin typeface="Consolas"/>
              </a:rPr>
              <a:t>Ethereum / Sepolia Testnet (EVM)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538728"/>
            <a:ext cx="82296" cy="457200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930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"/>
              </a:rPr>
              <a:t>Web3 Library  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9AA6C0"/>
                </a:solidFill>
                <a:latin typeface="Consolas"/>
              </a:rPr>
              <a:t>Ethers.js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42232"/>
            <a:ext cx="82296" cy="457200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9651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"/>
              </a:rPr>
              <a:t>Wallet / Signer  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9AA6C0"/>
                </a:solidFill>
                <a:latin typeface="Consolas"/>
              </a:rPr>
              <a:t>MetaMask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45736"/>
            <a:ext cx="82296" cy="4572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001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"/>
              </a:rPr>
              <a:t>Off-chain Storage  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9AA6C0"/>
                </a:solidFill>
                <a:latin typeface="Consolas"/>
              </a:rPr>
              <a:t>IPFS (hash anchored on-chain)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349240"/>
            <a:ext cx="82296" cy="457200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5FA"/>
                </a:solidFill>
                <a:latin typeface="Segoe UI"/>
              </a:rPr>
              <a:t>Frontend  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9AA6C0"/>
                </a:solidFill>
                <a:latin typeface="Consolas"/>
              </a:rPr>
              <a:t>HTML · CSS · 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3DDC84"/>
                </a:solidFill>
                <a:latin typeface="Consolas"/>
              </a:rPr>
              <a:t>KEY BENEFITS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286000"/>
            <a:ext cx="5029200" cy="502920"/>
          </a:xfrm>
          <a:prstGeom prst="roundRect">
            <a:avLst>
              <a:gd name="adj" fmla="val 25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04288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E5C7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F2F5FA"/>
                </a:solidFill>
                <a:latin typeface="Segoe UI"/>
              </a:rPr>
              <a:t>Immutable &amp; tamper-proof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889504"/>
            <a:ext cx="5029200" cy="502920"/>
          </a:xfrm>
          <a:prstGeom prst="roundRect">
            <a:avLst>
              <a:gd name="adj" fmla="val 25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907792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DC84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F2F5FA"/>
                </a:solidFill>
                <a:latin typeface="Segoe UI"/>
              </a:rPr>
              <a:t>O(1) constant-time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93008"/>
            <a:ext cx="5029200" cy="502920"/>
          </a:xfrm>
          <a:prstGeom prst="roundRect">
            <a:avLst>
              <a:gd name="adj" fmla="val 25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511296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D8CFF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F2F5FA"/>
                </a:solidFill>
                <a:latin typeface="Segoe UI"/>
              </a:rPr>
              <a:t>Zero-latency, 24/7 global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96512"/>
            <a:ext cx="5029200" cy="502920"/>
          </a:xfrm>
          <a:prstGeom prst="roundRect">
            <a:avLst>
              <a:gd name="adj" fmla="val 25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114800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B6DFF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F2F5FA"/>
                </a:solidFill>
                <a:latin typeface="Segoe UI"/>
              </a:rPr>
              <a:t>No single point of failure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700016"/>
            <a:ext cx="5029200" cy="502920"/>
          </a:xfrm>
          <a:prstGeom prst="roundRect">
            <a:avLst>
              <a:gd name="adj" fmla="val 25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718304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B34D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F2F5FA"/>
                </a:solidFill>
                <a:latin typeface="Segoe UI"/>
              </a:rPr>
              <a:t>Gasless reads for verifiers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5303520"/>
            <a:ext cx="5029200" cy="502920"/>
          </a:xfrm>
          <a:prstGeom prst="roundRect">
            <a:avLst>
              <a:gd name="adj" fmla="val 25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321808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F2F5FA"/>
                </a:solidFill>
                <a:latin typeface="Segoe UI"/>
              </a:rPr>
              <a:t>Admin-only writes via strict RBAC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E5C7"/>
                </a:solidFill>
                <a:latin typeface="Consolas"/>
              </a:rPr>
              <a:t>UniVerify V2.0</a:t>
            </a:r>
            <a:r>
              <a:rPr sz="900" b="0" i="0">
                <a:solidFill>
                  <a:srgbClr val="5A6680"/>
                </a:solidFill>
                <a:latin typeface="Segoe UI"/>
              </a:rPr>
              <a:t>  ·  Decentralized Academic Certificate Verification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914400"/>
            <a:ext cx="146304" cy="146304"/>
          </a:xfrm>
          <a:prstGeom prst="ellipse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1645920"/>
            <a:ext cx="146304" cy="146304"/>
          </a:xfrm>
          <a:prstGeom prst="ellipse">
            <a:avLst/>
          </a:prstGeom>
          <a:solidFill>
            <a:srgbClr val="4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5669280"/>
            <a:ext cx="146304" cy="146304"/>
          </a:xfrm>
          <a:prstGeom prst="ellipse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2F5FA"/>
                </a:solidFill>
                <a:latin typeface="Segoe UI"/>
              </a:rPr>
              <a:t>Trust, </a:t>
            </a:r>
            <a:r>
              <a:rPr sz="5000" b="1" i="0">
                <a:solidFill>
                  <a:srgbClr val="00E5C7"/>
                </a:solidFill>
                <a:latin typeface="Segoe UI"/>
              </a:rPr>
              <a:t>anchored on-chain.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9AA6C0"/>
                </a:solidFill>
                <a:latin typeface="Segoe UI Light"/>
              </a:rPr>
              <a:t>UniVerify V2.0 turns certificate verification from a multi-day, forgery-prone process into an instant, immutable, decentralized lookup.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2926080" cy="27432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2F5FA"/>
                </a:solidFill>
                <a:latin typeface="Segoe U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680"/>
                </a:solidFill>
                <a:latin typeface="Consolas"/>
              </a:rPr>
              <a:t>UniVerify V2.0  ·  Web3 Academic Certificate Verification  ·  Sepolia Testnet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